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Barlow" panose="00000500000000000000" pitchFamily="2" charset="0"/>
      <p:regular r:id="rId14"/>
    </p:embeddedFont>
    <p:embeddedFont>
      <p:font typeface="Montserrat" panose="00000500000000000000"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font" Target="fonts/font2.fntdata"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1.fntdat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E1369AA1-1B99-7742-ABA4-D55BC604BF20}" type="datetimeFigureOut">
              <a:rPr lang="en-US" smtClean="0"/>
              <a:t>2/11/2026</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7AE6E0A8-3571-6A47-93B4-1EDF9E5CFC5B}" type="slidenum">
              <a:rPr lang="en-US" smtClean="0"/>
              <a:t>‹#›</a:t>
            </a:fld>
            <a:endParaRPr lang="en-US"/>
          </a:p>
        </p:txBody>
      </p:sp>
    </p:spTree>
    <p:extLst>
      <p:ext uri="{BB962C8B-B14F-4D97-AF65-F5344CB8AC3E}">
        <p14:creationId xmlns:p14="http://schemas.microsoft.com/office/powerpoint/2010/main" val="4275478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3.xml" /><Relationship Id="rId1" Type="http://schemas.openxmlformats.org/officeDocument/2006/relationships/slideLayout" Target="../slideLayouts/slideLayout4.xml" /><Relationship Id="rId4" Type="http://schemas.openxmlformats.org/officeDocument/2006/relationships/image" Target="../media/image3.jpeg" /></Relationships>
</file>

<file path=ppt/slides/_rels/slide4.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4.xml" /><Relationship Id="rId1" Type="http://schemas.openxmlformats.org/officeDocument/2006/relationships/slideLayout" Target="../slideLayouts/slideLayout5.xml" /></Relationships>
</file>

<file path=ppt/slides/_rels/slide5.xml.rels><?xml version="1.0" encoding="UTF-8" standalone="yes"?>
<Relationships xmlns="http://schemas.openxmlformats.org/package/2006/relationships"><Relationship Id="rId8" Type="http://schemas.openxmlformats.org/officeDocument/2006/relationships/image" Target="../media/image10.svg" /><Relationship Id="rId13" Type="http://schemas.openxmlformats.org/officeDocument/2006/relationships/image" Target="../media/image3.jpeg" /><Relationship Id="rId3" Type="http://schemas.openxmlformats.org/officeDocument/2006/relationships/image" Target="../media/image5.png" /><Relationship Id="rId7" Type="http://schemas.openxmlformats.org/officeDocument/2006/relationships/image" Target="../media/image9.png" /><Relationship Id="rId12" Type="http://schemas.openxmlformats.org/officeDocument/2006/relationships/image" Target="../media/image14.svg" /><Relationship Id="rId2" Type="http://schemas.openxmlformats.org/officeDocument/2006/relationships/notesSlide" Target="../notesSlides/notesSlide5.xml" /><Relationship Id="rId1" Type="http://schemas.openxmlformats.org/officeDocument/2006/relationships/slideLayout" Target="../slideLayouts/slideLayout6.xml" /><Relationship Id="rId6" Type="http://schemas.openxmlformats.org/officeDocument/2006/relationships/image" Target="../media/image8.svg" /><Relationship Id="rId11" Type="http://schemas.openxmlformats.org/officeDocument/2006/relationships/image" Target="../media/image13.png" /><Relationship Id="rId5" Type="http://schemas.openxmlformats.org/officeDocument/2006/relationships/image" Target="../media/image7.png" /><Relationship Id="rId10" Type="http://schemas.openxmlformats.org/officeDocument/2006/relationships/image" Target="../media/image12.svg" /><Relationship Id="rId4" Type="http://schemas.openxmlformats.org/officeDocument/2006/relationships/image" Target="../media/image6.svg" /><Relationship Id="rId9" Type="http://schemas.openxmlformats.org/officeDocument/2006/relationships/image" Target="../media/image11.png" /></Relationships>
</file>

<file path=ppt/slides/_rels/slide6.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6.xml" /><Relationship Id="rId1" Type="http://schemas.openxmlformats.org/officeDocument/2006/relationships/slideLayout" Target="../slideLayouts/slideLayout7.xml" /><Relationship Id="rId5" Type="http://schemas.openxmlformats.org/officeDocument/2006/relationships/image" Target="../media/image3.jpeg" /><Relationship Id="rId4" Type="http://schemas.openxmlformats.org/officeDocument/2006/relationships/image" Target="../media/image16.png" /></Relationships>
</file>

<file path=ppt/slides/_rels/slide7.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7.xml" /><Relationship Id="rId1" Type="http://schemas.openxmlformats.org/officeDocument/2006/relationships/slideLayout" Target="../slideLayouts/slideLayout8.xml" /></Relationships>
</file>

<file path=ppt/slides/_rels/slide8.xml.rels><?xml version="1.0" encoding="UTF-8" standalone="yes"?>
<Relationships xmlns="http://schemas.openxmlformats.org/package/2006/relationships"><Relationship Id="rId8" Type="http://schemas.openxmlformats.org/officeDocument/2006/relationships/image" Target="../media/image22.svg" /><Relationship Id="rId13" Type="http://schemas.openxmlformats.org/officeDocument/2006/relationships/image" Target="../media/image3.jpeg" /><Relationship Id="rId3" Type="http://schemas.openxmlformats.org/officeDocument/2006/relationships/image" Target="../media/image17.png" /><Relationship Id="rId7" Type="http://schemas.openxmlformats.org/officeDocument/2006/relationships/image" Target="../media/image21.png" /><Relationship Id="rId12" Type="http://schemas.openxmlformats.org/officeDocument/2006/relationships/image" Target="../media/image26.svg" /><Relationship Id="rId2" Type="http://schemas.openxmlformats.org/officeDocument/2006/relationships/notesSlide" Target="../notesSlides/notesSlide8.xml" /><Relationship Id="rId1" Type="http://schemas.openxmlformats.org/officeDocument/2006/relationships/slideLayout" Target="../slideLayouts/slideLayout9.xml" /><Relationship Id="rId6" Type="http://schemas.openxmlformats.org/officeDocument/2006/relationships/image" Target="../media/image20.svg" /><Relationship Id="rId11" Type="http://schemas.openxmlformats.org/officeDocument/2006/relationships/image" Target="../media/image25.png" /><Relationship Id="rId5" Type="http://schemas.openxmlformats.org/officeDocument/2006/relationships/image" Target="../media/image19.png" /><Relationship Id="rId10" Type="http://schemas.openxmlformats.org/officeDocument/2006/relationships/image" Target="../media/image24.svg" /><Relationship Id="rId4" Type="http://schemas.openxmlformats.org/officeDocument/2006/relationships/image" Target="../media/image18.png" /><Relationship Id="rId9" Type="http://schemas.openxmlformats.org/officeDocument/2006/relationships/image" Target="../media/image23.png" /></Relationships>
</file>

<file path=ppt/slides/_rels/slide9.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notesSlide" Target="../notesSlides/notesSlide9.xml" /><Relationship Id="rId1" Type="http://schemas.openxmlformats.org/officeDocument/2006/relationships/slideLayout" Target="../slideLayouts/slideLayout10.xml" /><Relationship Id="rId4" Type="http://schemas.openxmlformats.org/officeDocument/2006/relationships/image" Target="../media/image3.jpeg" /></Relationships>
</file>

<file path=ppt/slides/_rels/slide10.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10.xml" /><Relationship Id="rId1" Type="http://schemas.openxmlformats.org/officeDocument/2006/relationships/slideLayout" Target="../slideLayouts/slideLayout11.xml" /></Relationships>
</file>

<file path=ppt/slides/_rels/slide11.xml.rels><?xml version="1.0" encoding="UTF-8" standalone="yes"?>
<Relationships xmlns="http://schemas.openxmlformats.org/package/2006/relationships"><Relationship Id="rId2" Type="http://schemas.openxmlformats.org/officeDocument/2006/relationships/image" Target="../media/image28.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58309" y="2705457"/>
            <a:ext cx="6695956"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AI IN AUTONOMOUS VEHICLES </a:t>
            </a:r>
            <a:endParaRPr lang="en-US" sz="3900" dirty="0"/>
          </a:p>
        </p:txBody>
      </p:sp>
      <p:sp>
        <p:nvSpPr>
          <p:cNvPr id="3" name="Text 1"/>
          <p:cNvSpPr/>
          <p:nvPr/>
        </p:nvSpPr>
        <p:spPr>
          <a:xfrm>
            <a:off x="758309" y="3404711"/>
            <a:ext cx="10295692" cy="498872"/>
          </a:xfrm>
          <a:prstGeom prst="rect">
            <a:avLst/>
          </a:prstGeom>
          <a:noFill/>
          <a:ln/>
        </p:spPr>
        <p:txBody>
          <a:bodyPr wrap="none" lIns="0" tIns="0" rIns="0" bIns="0" rtlCol="0" anchor="t"/>
          <a:lstStyle/>
          <a:p>
            <a:pPr marL="0" indent="0" algn="l">
              <a:lnSpc>
                <a:spcPts val="3900"/>
              </a:lnSpc>
              <a:buNone/>
            </a:pPr>
            <a:r>
              <a:rPr lang="en-US" sz="3100" b="1" dirty="0">
                <a:solidFill>
                  <a:srgbClr val="2E3C4E"/>
                </a:solidFill>
                <a:latin typeface="Barlow Bold" pitchFamily="34" charset="0"/>
                <a:ea typeface="Barlow Bold" pitchFamily="34" charset="-122"/>
                <a:cs typeface="Barlow Bold" pitchFamily="34" charset="-120"/>
              </a:rPr>
              <a:t>A Database Management System for Autonomous Vehicles</a:t>
            </a:r>
            <a:endParaRPr lang="en-US" sz="3100" dirty="0"/>
          </a:p>
        </p:txBody>
      </p:sp>
      <p:sp>
        <p:nvSpPr>
          <p:cNvPr id="4" name="Text 2"/>
          <p:cNvSpPr/>
          <p:nvPr/>
        </p:nvSpPr>
        <p:spPr>
          <a:xfrm>
            <a:off x="758309" y="4187904"/>
            <a:ext cx="13113782"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KANUMURI LALITH SHREEKAR (RA2411003012051)</a:t>
            </a:r>
            <a:endParaRPr lang="en-US" sz="1450" dirty="0"/>
          </a:p>
        </p:txBody>
      </p:sp>
      <p:sp>
        <p:nvSpPr>
          <p:cNvPr id="5" name="Text 3"/>
          <p:cNvSpPr/>
          <p:nvPr/>
        </p:nvSpPr>
        <p:spPr>
          <a:xfrm>
            <a:off x="758309" y="4704398"/>
            <a:ext cx="13113782"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SRIJAI KUBENDIRAN (RA2411003012049)</a:t>
            </a:r>
            <a:endParaRPr lang="en-US" sz="1450" dirty="0"/>
          </a:p>
        </p:txBody>
      </p:sp>
      <p:sp>
        <p:nvSpPr>
          <p:cNvPr id="6" name="Text 4"/>
          <p:cNvSpPr/>
          <p:nvPr/>
        </p:nvSpPr>
        <p:spPr>
          <a:xfrm>
            <a:off x="758309" y="5220891"/>
            <a:ext cx="13113782"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Subject: Database Management Systems (DBMS)</a:t>
            </a:r>
            <a:endParaRPr lang="en-US" sz="1450" dirty="0"/>
          </a:p>
        </p:txBody>
      </p:sp>
      <p:pic>
        <p:nvPicPr>
          <p:cNvPr id="9" name="Picture 8">
            <a:extLst>
              <a:ext uri="{FF2B5EF4-FFF2-40B4-BE49-F238E27FC236}">
                <a16:creationId xmlns:a16="http://schemas.microsoft.com/office/drawing/2014/main" id="{857DA987-3BCD-F92B-FBAC-608C44634260}"/>
              </a:ext>
            </a:extLst>
          </p:cNvPr>
          <p:cNvPicPr>
            <a:picLocks noChangeAspect="1"/>
          </p:cNvPicPr>
          <p:nvPr/>
        </p:nvPicPr>
        <p:blipFill>
          <a:blip r:embed="rId3"/>
          <a:stretch>
            <a:fillRect/>
          </a:stretch>
        </p:blipFill>
        <p:spPr>
          <a:xfrm>
            <a:off x="9208368" y="6167374"/>
            <a:ext cx="5422032" cy="20622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58309" y="2428518"/>
            <a:ext cx="1453753"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2485311"/>
            <a:ext cx="1226344"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INTRODUCTION</a:t>
            </a:r>
            <a:endParaRPr lang="en-US" sz="1150" dirty="0"/>
          </a:p>
        </p:txBody>
      </p:sp>
      <p:sp>
        <p:nvSpPr>
          <p:cNvPr id="4" name="Text 2"/>
          <p:cNvSpPr/>
          <p:nvPr/>
        </p:nvSpPr>
        <p:spPr>
          <a:xfrm>
            <a:off x="758309" y="2860477"/>
            <a:ext cx="10326172"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Revolutionizing Autonomous Vehicle Validation</a:t>
            </a:r>
            <a:endParaRPr lang="en-US" sz="3900" dirty="0"/>
          </a:p>
        </p:txBody>
      </p:sp>
      <p:sp>
        <p:nvSpPr>
          <p:cNvPr id="5" name="Text 3"/>
          <p:cNvSpPr/>
          <p:nvPr/>
        </p:nvSpPr>
        <p:spPr>
          <a:xfrm>
            <a:off x="758309" y="3768328"/>
            <a:ext cx="13113782"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DriveLearn is a specialized Database Management System (DBMS) meticulously engineered to address critical challenges in autonomous vehicle (AV) safety validation. Its core function is to curate and organize "Edge Case" scenarios, which are rare or complex driving situations that often expose vulnerabilities in AI models.</a:t>
            </a:r>
            <a:endParaRPr lang="en-US" sz="1450" dirty="0"/>
          </a:p>
        </p:txBody>
      </p:sp>
      <p:sp>
        <p:nvSpPr>
          <p:cNvPr id="6" name="Text 4"/>
          <p:cNvSpPr/>
          <p:nvPr/>
        </p:nvSpPr>
        <p:spPr>
          <a:xfrm>
            <a:off x="758309" y="4891326"/>
            <a:ext cx="13113782"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By systematically managing the intricate relationship between different AI software versions and real-world environmental data, DriveLearn provides a robust, logical framework for safety certification. This is achieved by enabling precise comparison of AI predictions against human-verified Ground Truth data, ensuring that AVs operate safely and reliably across an exhaustive range of conditions.</a:t>
            </a:r>
            <a:endParaRPr lang="en-US" sz="1450" dirty="0"/>
          </a:p>
        </p:txBody>
      </p:sp>
      <p:pic>
        <p:nvPicPr>
          <p:cNvPr id="9" name="Picture 8">
            <a:extLst>
              <a:ext uri="{FF2B5EF4-FFF2-40B4-BE49-F238E27FC236}">
                <a16:creationId xmlns:a16="http://schemas.microsoft.com/office/drawing/2014/main" id="{A85825A5-8F7D-A204-5909-D704BD578952}"/>
              </a:ext>
            </a:extLst>
          </p:cNvPr>
          <p:cNvPicPr>
            <a:picLocks noChangeAspect="1"/>
          </p:cNvPicPr>
          <p:nvPr/>
        </p:nvPicPr>
        <p:blipFill>
          <a:blip r:embed="rId3"/>
          <a:stretch>
            <a:fillRect/>
          </a:stretch>
        </p:blipFill>
        <p:spPr>
          <a:xfrm>
            <a:off x="10923999" y="6819901"/>
            <a:ext cx="3706402" cy="1409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58309" y="1806773"/>
            <a:ext cx="1982391"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1863566"/>
            <a:ext cx="1754981"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PROBLEM STATEMENT</a:t>
            </a:r>
            <a:endParaRPr lang="en-US" sz="1150" dirty="0"/>
          </a:p>
        </p:txBody>
      </p:sp>
      <p:sp>
        <p:nvSpPr>
          <p:cNvPr id="4" name="Text 2"/>
          <p:cNvSpPr/>
          <p:nvPr/>
        </p:nvSpPr>
        <p:spPr>
          <a:xfrm>
            <a:off x="758309" y="2238732"/>
            <a:ext cx="8922425"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Navigating the Data Deluge in AV Testing</a:t>
            </a:r>
            <a:endParaRPr lang="en-US" sz="3900" dirty="0"/>
          </a:p>
        </p:txBody>
      </p:sp>
      <p:sp>
        <p:nvSpPr>
          <p:cNvPr id="5" name="Shape 3"/>
          <p:cNvSpPr/>
          <p:nvPr/>
        </p:nvSpPr>
        <p:spPr>
          <a:xfrm>
            <a:off x="758309" y="3146584"/>
            <a:ext cx="4244816" cy="3276243"/>
          </a:xfrm>
          <a:prstGeom prst="roundRect">
            <a:avLst>
              <a:gd name="adj" fmla="val 3349"/>
            </a:avLst>
          </a:prstGeom>
          <a:solidFill>
            <a:srgbClr val="FFFFFF"/>
          </a:solidFill>
          <a:ln w="22860">
            <a:solidFill>
              <a:srgbClr val="BACFDD"/>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35449" y="3146584"/>
            <a:ext cx="91440" cy="3276243"/>
          </a:xfrm>
          <a:prstGeom prst="rect">
            <a:avLst/>
          </a:prstGeom>
        </p:spPr>
      </p:pic>
      <p:sp>
        <p:nvSpPr>
          <p:cNvPr id="7" name="Text 4"/>
          <p:cNvSpPr/>
          <p:nvPr/>
        </p:nvSpPr>
        <p:spPr>
          <a:xfrm>
            <a:off x="1039297" y="3358991"/>
            <a:ext cx="2556034"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Exponential Data Influx</a:t>
            </a:r>
            <a:endParaRPr lang="en-US" sz="1950" dirty="0"/>
          </a:p>
        </p:txBody>
      </p:sp>
      <p:sp>
        <p:nvSpPr>
          <p:cNvPr id="8" name="Text 5"/>
          <p:cNvSpPr/>
          <p:nvPr/>
        </p:nvSpPr>
        <p:spPr>
          <a:xfrm>
            <a:off x="1039297" y="3784402"/>
            <a:ext cx="3751421" cy="2122765"/>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A single autonomous vehicle generates approximately 4 terabytes (TB) of data daily. This massive volume includes sensor readings, camera feeds, lidar scans, and more, creating an overwhelming challenge for traditional data processing methods.</a:t>
            </a:r>
            <a:endParaRPr lang="en-US" sz="1450" dirty="0"/>
          </a:p>
        </p:txBody>
      </p:sp>
      <p:sp>
        <p:nvSpPr>
          <p:cNvPr id="9" name="Shape 6"/>
          <p:cNvSpPr/>
          <p:nvPr/>
        </p:nvSpPr>
        <p:spPr>
          <a:xfrm>
            <a:off x="5192673" y="3146584"/>
            <a:ext cx="4244935" cy="3276243"/>
          </a:xfrm>
          <a:prstGeom prst="roundRect">
            <a:avLst>
              <a:gd name="adj" fmla="val 3349"/>
            </a:avLst>
          </a:prstGeom>
          <a:solidFill>
            <a:srgbClr val="FFFFFF"/>
          </a:solidFill>
          <a:ln w="22860">
            <a:solidFill>
              <a:srgbClr val="BACFDD"/>
            </a:solidFill>
            <a:prstDash val="solid"/>
          </a:ln>
        </p:spPr>
        <p:txBody>
          <a:bodyPr/>
          <a:lstStyle/>
          <a:p>
            <a:endParaRPr lang="en-US"/>
          </a:p>
        </p:txBody>
      </p:sp>
      <p:pic>
        <p:nvPicPr>
          <p:cNvPr id="10" name="Image 1" descr="preencoded.png"/>
          <p:cNvPicPr>
            <a:picLocks noChangeAspect="1"/>
          </p:cNvPicPr>
          <p:nvPr/>
        </p:nvPicPr>
        <p:blipFill>
          <a:blip r:embed="rId3"/>
          <a:stretch>
            <a:fillRect/>
          </a:stretch>
        </p:blipFill>
        <p:spPr>
          <a:xfrm>
            <a:off x="5169813" y="3146584"/>
            <a:ext cx="91440" cy="3276243"/>
          </a:xfrm>
          <a:prstGeom prst="rect">
            <a:avLst/>
          </a:prstGeom>
        </p:spPr>
      </p:pic>
      <p:sp>
        <p:nvSpPr>
          <p:cNvPr id="11" name="Text 7"/>
          <p:cNvSpPr/>
          <p:nvPr/>
        </p:nvSpPr>
        <p:spPr>
          <a:xfrm>
            <a:off x="5473660" y="3358991"/>
            <a:ext cx="2975134"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The Contextual Disconnect</a:t>
            </a:r>
            <a:endParaRPr lang="en-US" sz="1950" dirty="0"/>
          </a:p>
        </p:txBody>
      </p:sp>
      <p:sp>
        <p:nvSpPr>
          <p:cNvPr id="12" name="Text 8"/>
          <p:cNvSpPr/>
          <p:nvPr/>
        </p:nvSpPr>
        <p:spPr>
          <a:xfrm>
            <a:off x="5473660" y="3784402"/>
            <a:ext cx="3751540" cy="2426018"/>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Traditional data logging systems typically store information as "flat files." This approach lacks indexing based on environmental context, making it nearly impossible to efficiently query specific conditions like "heavy rain at night" or "dense urban traffic during rush hour."</a:t>
            </a:r>
            <a:endParaRPr lang="en-US" sz="1450" dirty="0"/>
          </a:p>
        </p:txBody>
      </p:sp>
      <p:sp>
        <p:nvSpPr>
          <p:cNvPr id="13" name="Shape 9"/>
          <p:cNvSpPr/>
          <p:nvPr/>
        </p:nvSpPr>
        <p:spPr>
          <a:xfrm>
            <a:off x="9627156" y="3146584"/>
            <a:ext cx="4244816" cy="3276243"/>
          </a:xfrm>
          <a:prstGeom prst="roundRect">
            <a:avLst>
              <a:gd name="adj" fmla="val 3349"/>
            </a:avLst>
          </a:prstGeom>
          <a:solidFill>
            <a:srgbClr val="FFFFFF"/>
          </a:solidFill>
          <a:ln w="22860">
            <a:solidFill>
              <a:srgbClr val="BACFDD"/>
            </a:solidFill>
            <a:prstDash val="solid"/>
          </a:ln>
        </p:spPr>
        <p:txBody>
          <a:bodyPr/>
          <a:lstStyle/>
          <a:p>
            <a:endParaRPr lang="en-US"/>
          </a:p>
        </p:txBody>
      </p:sp>
      <p:pic>
        <p:nvPicPr>
          <p:cNvPr id="14" name="Image 2" descr="preencoded.png"/>
          <p:cNvPicPr>
            <a:picLocks noChangeAspect="1"/>
          </p:cNvPicPr>
          <p:nvPr/>
        </p:nvPicPr>
        <p:blipFill>
          <a:blip r:embed="rId3"/>
          <a:stretch>
            <a:fillRect/>
          </a:stretch>
        </p:blipFill>
        <p:spPr>
          <a:xfrm>
            <a:off x="9604296" y="3146584"/>
            <a:ext cx="91440" cy="3276243"/>
          </a:xfrm>
          <a:prstGeom prst="rect">
            <a:avLst/>
          </a:prstGeom>
        </p:spPr>
      </p:pic>
      <p:sp>
        <p:nvSpPr>
          <p:cNvPr id="15" name="Text 10"/>
          <p:cNvSpPr/>
          <p:nvPr/>
        </p:nvSpPr>
        <p:spPr>
          <a:xfrm>
            <a:off x="9908143" y="3358991"/>
            <a:ext cx="2706648"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Performance Bottleneck</a:t>
            </a:r>
            <a:endParaRPr lang="en-US" sz="1950" dirty="0"/>
          </a:p>
        </p:txBody>
      </p:sp>
      <p:sp>
        <p:nvSpPr>
          <p:cNvPr id="16" name="Text 11"/>
          <p:cNvSpPr/>
          <p:nvPr/>
        </p:nvSpPr>
        <p:spPr>
          <a:xfrm>
            <a:off x="9908143" y="3784402"/>
            <a:ext cx="3751421" cy="2426018"/>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Without a structured system, engineers face significant hurdles in efficiently querying and comparing how different AI models perform under identical, specific conditions. This bottleneck severely impedes the iterative development and validation cycles essential for AV safety.</a:t>
            </a:r>
            <a:endParaRPr lang="en-US" sz="1450" dirty="0"/>
          </a:p>
        </p:txBody>
      </p:sp>
      <p:pic>
        <p:nvPicPr>
          <p:cNvPr id="19" name="Picture 18">
            <a:extLst>
              <a:ext uri="{FF2B5EF4-FFF2-40B4-BE49-F238E27FC236}">
                <a16:creationId xmlns:a16="http://schemas.microsoft.com/office/drawing/2014/main" id="{3BAB28D2-246F-B6D6-90CD-3238454E1B0A}"/>
              </a:ext>
            </a:extLst>
          </p:cNvPr>
          <p:cNvPicPr>
            <a:picLocks noChangeAspect="1"/>
          </p:cNvPicPr>
          <p:nvPr/>
        </p:nvPicPr>
        <p:blipFill>
          <a:blip r:embed="rId4"/>
          <a:stretch>
            <a:fillRect/>
          </a:stretch>
        </p:blipFill>
        <p:spPr>
          <a:xfrm>
            <a:off x="10933079" y="6848239"/>
            <a:ext cx="3697321" cy="140624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58309" y="1722596"/>
            <a:ext cx="1927265"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1779389"/>
            <a:ext cx="1699855"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MOTIVATION &amp; SCOPE</a:t>
            </a:r>
            <a:endParaRPr lang="en-US" sz="1150" dirty="0"/>
          </a:p>
        </p:txBody>
      </p:sp>
      <p:sp>
        <p:nvSpPr>
          <p:cNvPr id="4" name="Text 2"/>
          <p:cNvSpPr/>
          <p:nvPr/>
        </p:nvSpPr>
        <p:spPr>
          <a:xfrm>
            <a:off x="758309" y="2154555"/>
            <a:ext cx="10966728"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Establishing a Source of Truth for AI Improvement</a:t>
            </a:r>
            <a:endParaRPr lang="en-US" sz="3900" dirty="0"/>
          </a:p>
        </p:txBody>
      </p:sp>
      <p:sp>
        <p:nvSpPr>
          <p:cNvPr id="5" name="Shape 3"/>
          <p:cNvSpPr/>
          <p:nvPr/>
        </p:nvSpPr>
        <p:spPr>
          <a:xfrm>
            <a:off x="621863" y="3062407"/>
            <a:ext cx="5240893" cy="3444478"/>
          </a:xfrm>
          <a:prstGeom prst="roundRect">
            <a:avLst>
              <a:gd name="adj" fmla="val 13209"/>
            </a:avLst>
          </a:prstGeom>
          <a:solidFill>
            <a:srgbClr val="75BAE6"/>
          </a:solidFill>
          <a:ln/>
        </p:spPr>
        <p:txBody>
          <a:bodyPr/>
          <a:lstStyle/>
          <a:p>
            <a:endParaRPr lang="en-US"/>
          </a:p>
        </p:txBody>
      </p:sp>
      <p:sp>
        <p:nvSpPr>
          <p:cNvPr id="6" name="Text 4"/>
          <p:cNvSpPr/>
          <p:nvPr/>
        </p:nvSpPr>
        <p:spPr>
          <a:xfrm>
            <a:off x="811411" y="3251954"/>
            <a:ext cx="2993350"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Barlow Bold" pitchFamily="34" charset="0"/>
                <a:ea typeface="Barlow Bold" pitchFamily="34" charset="-122"/>
                <a:cs typeface="Barlow Bold" pitchFamily="34" charset="-120"/>
              </a:rPr>
              <a:t>Motivation</a:t>
            </a:r>
            <a:endParaRPr lang="en-US" sz="2350" dirty="0"/>
          </a:p>
        </p:txBody>
      </p:sp>
      <p:sp>
        <p:nvSpPr>
          <p:cNvPr id="7" name="Text 5"/>
          <p:cNvSpPr/>
          <p:nvPr/>
        </p:nvSpPr>
        <p:spPr>
          <a:xfrm>
            <a:off x="811411" y="3815596"/>
            <a:ext cx="4861798" cy="1819513"/>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pitchFamily="34" charset="0"/>
                <a:ea typeface="Montserrat" pitchFamily="34" charset="-122"/>
                <a:cs typeface="Montserrat" pitchFamily="34" charset="-120"/>
              </a:rPr>
              <a:t>Continuous improvement of AI models necessitates a "Source of Truth" – a reliable, queryable repository that can precisely identify where a model fails, particularly in "Edge Case" scenarios. DriveLearn provides this critical foundation.</a:t>
            </a:r>
            <a:endParaRPr lang="en-US" sz="1450" dirty="0"/>
          </a:p>
        </p:txBody>
      </p:sp>
      <p:sp>
        <p:nvSpPr>
          <p:cNvPr id="8" name="Text 6"/>
          <p:cNvSpPr/>
          <p:nvPr/>
        </p:nvSpPr>
        <p:spPr>
          <a:xfrm>
            <a:off x="6196370" y="3251954"/>
            <a:ext cx="3378398"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Barlow Bold" pitchFamily="34" charset="0"/>
                <a:ea typeface="Barlow Bold" pitchFamily="34" charset="-122"/>
                <a:cs typeface="Barlow Bold" pitchFamily="34" charset="-120"/>
              </a:rPr>
              <a:t>Key Scopes of DriveLearn</a:t>
            </a:r>
            <a:endParaRPr lang="en-US" sz="2350" dirty="0"/>
          </a:p>
        </p:txBody>
      </p:sp>
      <p:sp>
        <p:nvSpPr>
          <p:cNvPr id="9" name="Text 7"/>
          <p:cNvSpPr/>
          <p:nvPr/>
        </p:nvSpPr>
        <p:spPr>
          <a:xfrm>
            <a:off x="6196370" y="3815596"/>
            <a:ext cx="7683222" cy="2426616"/>
          </a:xfrm>
          <a:prstGeom prst="rect">
            <a:avLst/>
          </a:prstGeom>
          <a:noFill/>
          <a:ln/>
        </p:spPr>
        <p:txBody>
          <a:bodyPr wrap="square" lIns="0" tIns="0" rIns="0" bIns="0" rtlCol="0" anchor="t"/>
          <a:lstStyle/>
          <a:p>
            <a:pPr marL="342900" indent="-342900" algn="l">
              <a:lnSpc>
                <a:spcPts val="2350"/>
              </a:lnSpc>
              <a:buSzPct val="100000"/>
              <a:buChar char="•"/>
            </a:pPr>
            <a:r>
              <a:rPr lang="en-US" sz="1450" b="1" dirty="0">
                <a:solidFill>
                  <a:srgbClr val="384653"/>
                </a:solidFill>
                <a:latin typeface="Montserrat" pitchFamily="34" charset="0"/>
                <a:ea typeface="Montserrat" pitchFamily="34" charset="-122"/>
                <a:cs typeface="Montserrat" pitchFamily="34" charset="-120"/>
              </a:rPr>
              <a:t>Fleet &amp; Hardware Tracking:</a:t>
            </a:r>
            <a:r>
              <a:rPr lang="en-US" sz="1450" dirty="0">
                <a:solidFill>
                  <a:srgbClr val="384653"/>
                </a:solidFill>
                <a:latin typeface="Montserrat" pitchFamily="34" charset="0"/>
                <a:ea typeface="Montserrat" pitchFamily="34" charset="-122"/>
                <a:cs typeface="Montserrat" pitchFamily="34" charset="-120"/>
              </a:rPr>
              <a:t> Comprehensive management of the physical test vehicles and their hardware configurations.</a:t>
            </a:r>
            <a:endParaRPr lang="en-US" sz="1450" dirty="0"/>
          </a:p>
          <a:p>
            <a:pPr marL="342900" indent="-342900" algn="l">
              <a:lnSpc>
                <a:spcPts val="2350"/>
              </a:lnSpc>
              <a:buSzPct val="100000"/>
              <a:buChar char="•"/>
            </a:pPr>
            <a:r>
              <a:rPr lang="en-US" sz="1450" b="1" dirty="0">
                <a:solidFill>
                  <a:srgbClr val="384653"/>
                </a:solidFill>
                <a:latin typeface="Montserrat" pitchFamily="34" charset="0"/>
                <a:ea typeface="Montserrat" pitchFamily="34" charset="-122"/>
                <a:cs typeface="Montserrat" pitchFamily="34" charset="-120"/>
              </a:rPr>
              <a:t>Environmental Scenario Cataloging:</a:t>
            </a:r>
            <a:r>
              <a:rPr lang="en-US" sz="1450" dirty="0">
                <a:solidFill>
                  <a:srgbClr val="384653"/>
                </a:solidFill>
                <a:latin typeface="Montserrat" pitchFamily="34" charset="0"/>
                <a:ea typeface="Montserrat" pitchFamily="34" charset="-122"/>
                <a:cs typeface="Montserrat" pitchFamily="34" charset="-120"/>
              </a:rPr>
              <a:t> Detailed classification and storage of diverse driving environments and conditions.</a:t>
            </a:r>
            <a:endParaRPr lang="en-US" sz="1450" dirty="0"/>
          </a:p>
          <a:p>
            <a:pPr marL="342900" indent="-342900" algn="l">
              <a:lnSpc>
                <a:spcPts val="2350"/>
              </a:lnSpc>
              <a:buSzPct val="100000"/>
              <a:buChar char="•"/>
            </a:pPr>
            <a:r>
              <a:rPr lang="en-US" sz="1450" b="1" dirty="0">
                <a:solidFill>
                  <a:srgbClr val="384653"/>
                </a:solidFill>
                <a:latin typeface="Montserrat" pitchFamily="34" charset="0"/>
                <a:ea typeface="Montserrat" pitchFamily="34" charset="-122"/>
                <a:cs typeface="Montserrat" pitchFamily="34" charset="-120"/>
              </a:rPr>
              <a:t>AI Perception Validation:</a:t>
            </a:r>
            <a:r>
              <a:rPr lang="en-US" sz="1450" dirty="0">
                <a:solidFill>
                  <a:srgbClr val="384653"/>
                </a:solidFill>
                <a:latin typeface="Montserrat" pitchFamily="34" charset="0"/>
                <a:ea typeface="Montserrat" pitchFamily="34" charset="-122"/>
                <a:cs typeface="Montserrat" pitchFamily="34" charset="-120"/>
              </a:rPr>
              <a:t> Objective assessment of AI model performance through confidence scoring against ground truth.</a:t>
            </a:r>
            <a:endParaRPr lang="en-US" sz="1450" dirty="0"/>
          </a:p>
          <a:p>
            <a:pPr marL="342900" indent="-342900" algn="l">
              <a:lnSpc>
                <a:spcPts val="2350"/>
              </a:lnSpc>
              <a:buSzPct val="100000"/>
              <a:buChar char="•"/>
            </a:pPr>
            <a:r>
              <a:rPr lang="en-US" sz="1450" b="1" dirty="0">
                <a:solidFill>
                  <a:srgbClr val="384653"/>
                </a:solidFill>
                <a:latin typeface="Montserrat" pitchFamily="34" charset="0"/>
                <a:ea typeface="Montserrat" pitchFamily="34" charset="-122"/>
                <a:cs typeface="Montserrat" pitchFamily="34" charset="-120"/>
              </a:rPr>
              <a:t>Automated Safety Reporting via SQL:</a:t>
            </a:r>
            <a:r>
              <a:rPr lang="en-US" sz="1450" dirty="0">
                <a:solidFill>
                  <a:srgbClr val="384653"/>
                </a:solidFill>
                <a:latin typeface="Montserrat" pitchFamily="34" charset="0"/>
                <a:ea typeface="Montserrat" pitchFamily="34" charset="-122"/>
                <a:cs typeface="Montserrat" pitchFamily="34" charset="-120"/>
              </a:rPr>
              <a:t> Streamlined generation of safety compliance reports through direct database queries.</a:t>
            </a:r>
            <a:endParaRPr lang="en-US" sz="1450" dirty="0"/>
          </a:p>
        </p:txBody>
      </p:sp>
      <p:pic>
        <p:nvPicPr>
          <p:cNvPr id="12" name="Picture 11">
            <a:extLst>
              <a:ext uri="{FF2B5EF4-FFF2-40B4-BE49-F238E27FC236}">
                <a16:creationId xmlns:a16="http://schemas.microsoft.com/office/drawing/2014/main" id="{5D76B404-8698-C77C-A13A-5E41B7054398}"/>
              </a:ext>
            </a:extLst>
          </p:cNvPr>
          <p:cNvPicPr>
            <a:picLocks noChangeAspect="1"/>
          </p:cNvPicPr>
          <p:nvPr/>
        </p:nvPicPr>
        <p:blipFill>
          <a:blip r:embed="rId3"/>
          <a:stretch>
            <a:fillRect/>
          </a:stretch>
        </p:blipFill>
        <p:spPr>
          <a:xfrm>
            <a:off x="11074257" y="6877051"/>
            <a:ext cx="3556143" cy="135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85800" y="647462"/>
            <a:ext cx="1410295" cy="311825"/>
          </a:xfrm>
          <a:prstGeom prst="roundRect">
            <a:avLst>
              <a:gd name="adj" fmla="val 65990"/>
            </a:avLst>
          </a:prstGeom>
          <a:solidFill>
            <a:srgbClr val="D4E9F7"/>
          </a:solidFill>
          <a:ln/>
        </p:spPr>
        <p:txBody>
          <a:bodyPr/>
          <a:lstStyle/>
          <a:p>
            <a:endParaRPr lang="en-US"/>
          </a:p>
        </p:txBody>
      </p:sp>
      <p:sp>
        <p:nvSpPr>
          <p:cNvPr id="3" name="Text 1"/>
          <p:cNvSpPr/>
          <p:nvPr/>
        </p:nvSpPr>
        <p:spPr>
          <a:xfrm>
            <a:off x="788670" y="698897"/>
            <a:ext cx="1204555" cy="208955"/>
          </a:xfrm>
          <a:prstGeom prst="rect">
            <a:avLst/>
          </a:prstGeom>
          <a:noFill/>
          <a:ln/>
        </p:spPr>
        <p:txBody>
          <a:bodyPr wrap="none" lIns="0" tIns="0" rIns="0" bIns="0" rtlCol="0" anchor="t"/>
          <a:lstStyle/>
          <a:p>
            <a:pPr marL="0" indent="0" algn="l">
              <a:lnSpc>
                <a:spcPts val="1600"/>
              </a:lnSpc>
              <a:buNone/>
            </a:pPr>
            <a:r>
              <a:rPr lang="en-US" sz="1050" dirty="0">
                <a:solidFill>
                  <a:srgbClr val="384653"/>
                </a:solidFill>
                <a:latin typeface="Montserrat" pitchFamily="34" charset="0"/>
                <a:ea typeface="Montserrat" pitchFamily="34" charset="-122"/>
                <a:cs typeface="Montserrat" pitchFamily="34" charset="-120"/>
              </a:rPr>
              <a:t>DATA MODELING</a:t>
            </a:r>
            <a:endParaRPr lang="en-US" sz="1050" dirty="0"/>
          </a:p>
        </p:txBody>
      </p:sp>
      <p:sp>
        <p:nvSpPr>
          <p:cNvPr id="4" name="Text 2"/>
          <p:cNvSpPr/>
          <p:nvPr/>
        </p:nvSpPr>
        <p:spPr>
          <a:xfrm>
            <a:off x="685800" y="1021318"/>
            <a:ext cx="7799427" cy="563999"/>
          </a:xfrm>
          <a:prstGeom prst="rect">
            <a:avLst/>
          </a:prstGeom>
          <a:noFill/>
          <a:ln/>
        </p:spPr>
        <p:txBody>
          <a:bodyPr wrap="none" lIns="0" tIns="0" rIns="0" bIns="0" rtlCol="0" anchor="t"/>
          <a:lstStyle/>
          <a:p>
            <a:pPr marL="0" indent="0" algn="l">
              <a:lnSpc>
                <a:spcPts val="4400"/>
              </a:lnSpc>
              <a:buNone/>
            </a:pPr>
            <a:r>
              <a:rPr lang="en-US" sz="3550" b="1" dirty="0">
                <a:solidFill>
                  <a:srgbClr val="2E3C4E"/>
                </a:solidFill>
                <a:latin typeface="Barlow Bold" pitchFamily="34" charset="0"/>
                <a:ea typeface="Barlow Bold" pitchFamily="34" charset="-122"/>
                <a:cs typeface="Barlow Bold" pitchFamily="34" charset="-120"/>
              </a:rPr>
              <a:t>Identifying Core Entities for DriveLearn</a:t>
            </a:r>
            <a:endParaRPr lang="en-US" sz="3550" dirty="0"/>
          </a:p>
        </p:txBody>
      </p:sp>
      <p:sp>
        <p:nvSpPr>
          <p:cNvPr id="5" name="Shape 3"/>
          <p:cNvSpPr/>
          <p:nvPr/>
        </p:nvSpPr>
        <p:spPr>
          <a:xfrm>
            <a:off x="685800" y="1817965"/>
            <a:ext cx="685800" cy="1028819"/>
          </a:xfrm>
          <a:prstGeom prst="roundRect">
            <a:avLst>
              <a:gd name="adj" fmla="val 360060"/>
            </a:avLst>
          </a:prstGeom>
          <a:solidFill>
            <a:srgbClr val="D4E9F7"/>
          </a:solidFill>
          <a:ln w="7620">
            <a:solidFill>
              <a:srgbClr val="BACFDD"/>
            </a:solidFill>
            <a:prstDash val="solid"/>
          </a:ln>
        </p:spPr>
        <p:txBody>
          <a:bodyPr/>
          <a:lstStyle/>
          <a:p>
            <a:endParaRPr lang="en-US"/>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0113" y="2203728"/>
            <a:ext cx="257175" cy="257175"/>
          </a:xfrm>
          <a:prstGeom prst="rect">
            <a:avLst/>
          </a:prstGeom>
        </p:spPr>
      </p:pic>
      <p:sp>
        <p:nvSpPr>
          <p:cNvPr id="7" name="Text 4"/>
          <p:cNvSpPr/>
          <p:nvPr/>
        </p:nvSpPr>
        <p:spPr>
          <a:xfrm>
            <a:off x="1526619" y="1989415"/>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AI_Models</a:t>
            </a:r>
            <a:endParaRPr lang="en-US" sz="1750" dirty="0"/>
          </a:p>
        </p:txBody>
      </p:sp>
      <p:sp>
        <p:nvSpPr>
          <p:cNvPr id="8" name="Text 5"/>
          <p:cNvSpPr/>
          <p:nvPr/>
        </p:nvSpPr>
        <p:spPr>
          <a:xfrm>
            <a:off x="1526619" y="2364343"/>
            <a:ext cx="12417981" cy="261223"/>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Tracks distinct software versions, such as v1.0, v2.5, including their unique architectural details and deployment status.</a:t>
            </a:r>
            <a:endParaRPr lang="en-US" sz="1350" dirty="0"/>
          </a:p>
        </p:txBody>
      </p:sp>
      <p:sp>
        <p:nvSpPr>
          <p:cNvPr id="9" name="Shape 6"/>
          <p:cNvSpPr/>
          <p:nvPr/>
        </p:nvSpPr>
        <p:spPr>
          <a:xfrm>
            <a:off x="685800" y="3001804"/>
            <a:ext cx="685800" cy="1028819"/>
          </a:xfrm>
          <a:prstGeom prst="roundRect">
            <a:avLst>
              <a:gd name="adj" fmla="val 360060"/>
            </a:avLst>
          </a:prstGeom>
          <a:solidFill>
            <a:srgbClr val="D4E9F7"/>
          </a:solidFill>
          <a:ln w="7620">
            <a:solidFill>
              <a:srgbClr val="BACFDD"/>
            </a:solidFill>
            <a:prstDash val="solid"/>
          </a:ln>
        </p:spPr>
        <p:txBody>
          <a:bodyPr/>
          <a:lstStyle/>
          <a:p>
            <a:endParaRPr lang="en-US"/>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0113" y="3387566"/>
            <a:ext cx="257175" cy="257175"/>
          </a:xfrm>
          <a:prstGeom prst="rect">
            <a:avLst/>
          </a:prstGeom>
        </p:spPr>
      </p:pic>
      <p:sp>
        <p:nvSpPr>
          <p:cNvPr id="11" name="Text 7"/>
          <p:cNvSpPr/>
          <p:nvPr/>
        </p:nvSpPr>
        <p:spPr>
          <a:xfrm>
            <a:off x="1526619" y="3173254"/>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Vehicles</a:t>
            </a:r>
            <a:endParaRPr lang="en-US" sz="1750" dirty="0"/>
          </a:p>
        </p:txBody>
      </p:sp>
      <p:sp>
        <p:nvSpPr>
          <p:cNvPr id="12" name="Text 8"/>
          <p:cNvSpPr/>
          <p:nvPr/>
        </p:nvSpPr>
        <p:spPr>
          <a:xfrm>
            <a:off x="1526619" y="3548182"/>
            <a:ext cx="12417981" cy="261223"/>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Manages the physical test fleet, including unique vehicle identifiers, hardware specifications, and operational status.</a:t>
            </a:r>
            <a:endParaRPr lang="en-US" sz="1350" dirty="0"/>
          </a:p>
        </p:txBody>
      </p:sp>
      <p:sp>
        <p:nvSpPr>
          <p:cNvPr id="13" name="Shape 9"/>
          <p:cNvSpPr/>
          <p:nvPr/>
        </p:nvSpPr>
        <p:spPr>
          <a:xfrm>
            <a:off x="685800" y="4185642"/>
            <a:ext cx="685800" cy="1028819"/>
          </a:xfrm>
          <a:prstGeom prst="roundRect">
            <a:avLst>
              <a:gd name="adj" fmla="val 360060"/>
            </a:avLst>
          </a:prstGeom>
          <a:solidFill>
            <a:srgbClr val="D4E9F7"/>
          </a:solidFill>
          <a:ln w="7620">
            <a:solidFill>
              <a:srgbClr val="BACFDD"/>
            </a:solidFill>
            <a:prstDash val="solid"/>
          </a:ln>
        </p:spPr>
        <p:txBody>
          <a:bodyPr/>
          <a:lstStyle/>
          <a:p>
            <a:endParaRPr lang="en-US"/>
          </a:p>
        </p:txBody>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0113" y="4571405"/>
            <a:ext cx="257175" cy="257175"/>
          </a:xfrm>
          <a:prstGeom prst="rect">
            <a:avLst/>
          </a:prstGeom>
        </p:spPr>
      </p:pic>
      <p:sp>
        <p:nvSpPr>
          <p:cNvPr id="15" name="Text 10"/>
          <p:cNvSpPr/>
          <p:nvPr/>
        </p:nvSpPr>
        <p:spPr>
          <a:xfrm>
            <a:off x="1526619" y="4357092"/>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Scenarios</a:t>
            </a:r>
            <a:endParaRPr lang="en-US" sz="1750" dirty="0"/>
          </a:p>
        </p:txBody>
      </p:sp>
      <p:sp>
        <p:nvSpPr>
          <p:cNvPr id="16" name="Text 11"/>
          <p:cNvSpPr/>
          <p:nvPr/>
        </p:nvSpPr>
        <p:spPr>
          <a:xfrm>
            <a:off x="1526619" y="4732020"/>
            <a:ext cx="12417981" cy="261223"/>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Categorizes environmental metadata such as weather conditions (e.g., Rainy, Foggy), light levels (e.g., Urban, Highway), and road types.</a:t>
            </a:r>
            <a:endParaRPr lang="en-US" sz="1350" dirty="0"/>
          </a:p>
        </p:txBody>
      </p:sp>
      <p:sp>
        <p:nvSpPr>
          <p:cNvPr id="17" name="Shape 12"/>
          <p:cNvSpPr/>
          <p:nvPr/>
        </p:nvSpPr>
        <p:spPr>
          <a:xfrm>
            <a:off x="685800" y="5369481"/>
            <a:ext cx="685800" cy="1028819"/>
          </a:xfrm>
          <a:prstGeom prst="roundRect">
            <a:avLst>
              <a:gd name="adj" fmla="val 360060"/>
            </a:avLst>
          </a:prstGeom>
          <a:solidFill>
            <a:srgbClr val="D4E9F7"/>
          </a:solidFill>
          <a:ln w="7620">
            <a:solidFill>
              <a:srgbClr val="BACFDD"/>
            </a:solidFill>
            <a:prstDash val="solid"/>
          </a:ln>
        </p:spPr>
        <p:txBody>
          <a:bodyPr/>
          <a:lstStyle/>
          <a:p>
            <a:endParaRPr lang="en-US"/>
          </a:p>
        </p:txBody>
      </p:sp>
      <p:pic>
        <p:nvPicPr>
          <p:cNvPr id="18"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0113" y="5755243"/>
            <a:ext cx="257175" cy="257175"/>
          </a:xfrm>
          <a:prstGeom prst="rect">
            <a:avLst/>
          </a:prstGeom>
        </p:spPr>
      </p:pic>
      <p:sp>
        <p:nvSpPr>
          <p:cNvPr id="19" name="Text 13"/>
          <p:cNvSpPr/>
          <p:nvPr/>
        </p:nvSpPr>
        <p:spPr>
          <a:xfrm>
            <a:off x="1526619" y="5540931"/>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Test_Runs</a:t>
            </a:r>
            <a:endParaRPr lang="en-US" sz="1750" dirty="0"/>
          </a:p>
        </p:txBody>
      </p:sp>
      <p:sp>
        <p:nvSpPr>
          <p:cNvPr id="20" name="Text 14"/>
          <p:cNvSpPr/>
          <p:nvPr/>
        </p:nvSpPr>
        <p:spPr>
          <a:xfrm>
            <a:off x="1526619" y="5915858"/>
            <a:ext cx="12417981" cy="261223"/>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Records specific driving sessions, linking a particular vehicle and AI model to a defined environmental scenario at a given time.</a:t>
            </a:r>
            <a:endParaRPr lang="en-US" sz="1350" dirty="0"/>
          </a:p>
        </p:txBody>
      </p:sp>
      <p:sp>
        <p:nvSpPr>
          <p:cNvPr id="21" name="Shape 15"/>
          <p:cNvSpPr/>
          <p:nvPr/>
        </p:nvSpPr>
        <p:spPr>
          <a:xfrm>
            <a:off x="685800" y="6553319"/>
            <a:ext cx="685800" cy="1028819"/>
          </a:xfrm>
          <a:prstGeom prst="roundRect">
            <a:avLst>
              <a:gd name="adj" fmla="val 360060"/>
            </a:avLst>
          </a:prstGeom>
          <a:solidFill>
            <a:srgbClr val="D4E9F7"/>
          </a:solidFill>
          <a:ln w="7620">
            <a:solidFill>
              <a:srgbClr val="BACFDD"/>
            </a:solidFill>
            <a:prstDash val="solid"/>
          </a:ln>
        </p:spPr>
        <p:txBody>
          <a:bodyPr/>
          <a:lstStyle/>
          <a:p>
            <a:endParaRPr lang="en-US"/>
          </a:p>
        </p:txBody>
      </p:sp>
      <p:pic>
        <p:nvPicPr>
          <p:cNvPr id="22"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0113" y="6939082"/>
            <a:ext cx="257175" cy="257175"/>
          </a:xfrm>
          <a:prstGeom prst="rect">
            <a:avLst/>
          </a:prstGeom>
        </p:spPr>
      </p:pic>
      <p:sp>
        <p:nvSpPr>
          <p:cNvPr id="23" name="Text 16"/>
          <p:cNvSpPr/>
          <p:nvPr/>
        </p:nvSpPr>
        <p:spPr>
          <a:xfrm>
            <a:off x="1526619" y="6724769"/>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Detections</a:t>
            </a:r>
            <a:endParaRPr lang="en-US" sz="1750" dirty="0"/>
          </a:p>
        </p:txBody>
      </p:sp>
      <p:sp>
        <p:nvSpPr>
          <p:cNvPr id="24" name="Text 17"/>
          <p:cNvSpPr/>
          <p:nvPr/>
        </p:nvSpPr>
        <p:spPr>
          <a:xfrm>
            <a:off x="1526619" y="7099697"/>
            <a:ext cx="12417981" cy="261223"/>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Stores the actual AI output, including the object type identified (e.g., pedestrian, vehicle) and its associated confidence score.</a:t>
            </a:r>
            <a:endParaRPr lang="en-US" sz="1350" dirty="0"/>
          </a:p>
        </p:txBody>
      </p:sp>
      <p:pic>
        <p:nvPicPr>
          <p:cNvPr id="27" name="Picture 26">
            <a:extLst>
              <a:ext uri="{FF2B5EF4-FFF2-40B4-BE49-F238E27FC236}">
                <a16:creationId xmlns:a16="http://schemas.microsoft.com/office/drawing/2014/main" id="{4E432094-1C21-C8AC-438F-93084947FD65}"/>
              </a:ext>
            </a:extLst>
          </p:cNvPr>
          <p:cNvPicPr>
            <a:picLocks noChangeAspect="1"/>
          </p:cNvPicPr>
          <p:nvPr/>
        </p:nvPicPr>
        <p:blipFill>
          <a:blip r:embed="rId13"/>
          <a:stretch>
            <a:fillRect/>
          </a:stretch>
        </p:blipFill>
        <p:spPr>
          <a:xfrm>
            <a:off x="12857416" y="7476458"/>
            <a:ext cx="1772984" cy="6743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58309" y="759619"/>
            <a:ext cx="2502813"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816412"/>
            <a:ext cx="2275403"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ENTITY-RELATIONSHIP LOGIC</a:t>
            </a:r>
            <a:endParaRPr lang="en-US" sz="1150" dirty="0"/>
          </a:p>
        </p:txBody>
      </p:sp>
      <p:sp>
        <p:nvSpPr>
          <p:cNvPr id="4" name="Text 2"/>
          <p:cNvSpPr/>
          <p:nvPr/>
        </p:nvSpPr>
        <p:spPr>
          <a:xfrm>
            <a:off x="758309" y="1191577"/>
            <a:ext cx="8956358"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Defining Relationships within DriveLearn</a:t>
            </a:r>
            <a:endParaRPr lang="en-US" sz="3900" dirty="0"/>
          </a:p>
        </p:txBody>
      </p:sp>
      <p:pic>
        <p:nvPicPr>
          <p:cNvPr id="5" name="Image 0" descr="preencoded.png"/>
          <p:cNvPicPr>
            <a:picLocks noChangeAspect="1"/>
          </p:cNvPicPr>
          <p:nvPr/>
        </p:nvPicPr>
        <p:blipFill>
          <a:blip r:embed="rId3"/>
          <a:stretch>
            <a:fillRect/>
          </a:stretch>
        </p:blipFill>
        <p:spPr>
          <a:xfrm>
            <a:off x="758309" y="2099429"/>
            <a:ext cx="947857" cy="1411010"/>
          </a:xfrm>
          <a:prstGeom prst="rect">
            <a:avLst/>
          </a:prstGeom>
        </p:spPr>
      </p:pic>
      <p:sp>
        <p:nvSpPr>
          <p:cNvPr id="6" name="Text 3"/>
          <p:cNvSpPr/>
          <p:nvPr/>
        </p:nvSpPr>
        <p:spPr>
          <a:xfrm>
            <a:off x="1895713" y="2288977"/>
            <a:ext cx="2736771"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AI_Model to Vehicle (1:M)</a:t>
            </a:r>
            <a:endParaRPr lang="en-US" sz="1950" dirty="0"/>
          </a:p>
        </p:txBody>
      </p:sp>
      <p:sp>
        <p:nvSpPr>
          <p:cNvPr id="7" name="Text 4"/>
          <p:cNvSpPr/>
          <p:nvPr/>
        </p:nvSpPr>
        <p:spPr>
          <a:xfrm>
            <a:off x="1895713" y="2714387"/>
            <a:ext cx="11976378"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One AI model version can be deployed across many different physical vehicles in the test fleet, allowing for widespread testing and data collection under diverse conditions.</a:t>
            </a:r>
            <a:endParaRPr lang="en-US" sz="1450" dirty="0"/>
          </a:p>
        </p:txBody>
      </p:sp>
      <p:pic>
        <p:nvPicPr>
          <p:cNvPr id="8" name="Image 1" descr="preencoded.png"/>
          <p:cNvPicPr>
            <a:picLocks noChangeAspect="1"/>
          </p:cNvPicPr>
          <p:nvPr/>
        </p:nvPicPr>
        <p:blipFill>
          <a:blip r:embed="rId4"/>
          <a:stretch>
            <a:fillRect/>
          </a:stretch>
        </p:blipFill>
        <p:spPr>
          <a:xfrm>
            <a:off x="758309" y="3510439"/>
            <a:ext cx="947857" cy="1137404"/>
          </a:xfrm>
          <a:prstGeom prst="rect">
            <a:avLst/>
          </a:prstGeom>
        </p:spPr>
      </p:pic>
      <p:sp>
        <p:nvSpPr>
          <p:cNvPr id="9" name="Text 5"/>
          <p:cNvSpPr/>
          <p:nvPr/>
        </p:nvSpPr>
        <p:spPr>
          <a:xfrm>
            <a:off x="1895713" y="3699986"/>
            <a:ext cx="2752963"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Vehicle to Test_Run (1:M)</a:t>
            </a:r>
            <a:endParaRPr lang="en-US" sz="1950" dirty="0"/>
          </a:p>
        </p:txBody>
      </p:sp>
      <p:sp>
        <p:nvSpPr>
          <p:cNvPr id="10" name="Text 6"/>
          <p:cNvSpPr/>
          <p:nvPr/>
        </p:nvSpPr>
        <p:spPr>
          <a:xfrm>
            <a:off x="1895713" y="4125397"/>
            <a:ext cx="11976378"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A single vehicle can perform multiple distinct test sessions, each contributing unique data points under varying scenarios.</a:t>
            </a:r>
            <a:endParaRPr lang="en-US" sz="1450" dirty="0"/>
          </a:p>
        </p:txBody>
      </p:sp>
      <p:pic>
        <p:nvPicPr>
          <p:cNvPr id="11" name="Image 2" descr="preencoded.png"/>
          <p:cNvPicPr>
            <a:picLocks noChangeAspect="1"/>
          </p:cNvPicPr>
          <p:nvPr/>
        </p:nvPicPr>
        <p:blipFill>
          <a:blip r:embed="rId3"/>
          <a:stretch>
            <a:fillRect/>
          </a:stretch>
        </p:blipFill>
        <p:spPr>
          <a:xfrm>
            <a:off x="758309" y="4647843"/>
            <a:ext cx="947857" cy="1411010"/>
          </a:xfrm>
          <a:prstGeom prst="rect">
            <a:avLst/>
          </a:prstGeom>
        </p:spPr>
      </p:pic>
      <p:sp>
        <p:nvSpPr>
          <p:cNvPr id="12" name="Text 7"/>
          <p:cNvSpPr/>
          <p:nvPr/>
        </p:nvSpPr>
        <p:spPr>
          <a:xfrm>
            <a:off x="1895713" y="4837390"/>
            <a:ext cx="2929295"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Scenario to Test_Run (1:M)</a:t>
            </a:r>
            <a:endParaRPr lang="en-US" sz="1950" dirty="0"/>
          </a:p>
        </p:txBody>
      </p:sp>
      <p:sp>
        <p:nvSpPr>
          <p:cNvPr id="13" name="Text 8"/>
          <p:cNvSpPr/>
          <p:nvPr/>
        </p:nvSpPr>
        <p:spPr>
          <a:xfrm>
            <a:off x="1895713" y="5262801"/>
            <a:ext cx="11976378"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One specific environmental scenario (e.g., "heavy rain at night") can be utilized in many different test runs, enabling controlled comparison across AI models and vehicles.</a:t>
            </a:r>
            <a:endParaRPr lang="en-US" sz="1450" dirty="0"/>
          </a:p>
        </p:txBody>
      </p:sp>
      <p:pic>
        <p:nvPicPr>
          <p:cNvPr id="14" name="Image 3" descr="preencoded.png"/>
          <p:cNvPicPr>
            <a:picLocks noChangeAspect="1"/>
          </p:cNvPicPr>
          <p:nvPr/>
        </p:nvPicPr>
        <p:blipFill>
          <a:blip r:embed="rId3"/>
          <a:stretch>
            <a:fillRect/>
          </a:stretch>
        </p:blipFill>
        <p:spPr>
          <a:xfrm>
            <a:off x="758309" y="6058853"/>
            <a:ext cx="947857" cy="1411010"/>
          </a:xfrm>
          <a:prstGeom prst="rect">
            <a:avLst/>
          </a:prstGeom>
        </p:spPr>
      </p:pic>
      <p:sp>
        <p:nvSpPr>
          <p:cNvPr id="15" name="Text 9"/>
          <p:cNvSpPr/>
          <p:nvPr/>
        </p:nvSpPr>
        <p:spPr>
          <a:xfrm>
            <a:off x="1895713" y="6248400"/>
            <a:ext cx="3030260"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Test_Run to Detection (1:M)</a:t>
            </a:r>
            <a:endParaRPr lang="en-US" sz="1950" dirty="0"/>
          </a:p>
        </p:txBody>
      </p:sp>
      <p:sp>
        <p:nvSpPr>
          <p:cNvPr id="16" name="Text 10"/>
          <p:cNvSpPr/>
          <p:nvPr/>
        </p:nvSpPr>
        <p:spPr>
          <a:xfrm>
            <a:off x="1895713" y="6673810"/>
            <a:ext cx="11976378"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Each individual test run generates thousands of AI detections, representing the AI's perception of objects and events during that specific session.</a:t>
            </a:r>
            <a:endParaRPr lang="en-US" sz="1450" dirty="0"/>
          </a:p>
        </p:txBody>
      </p:sp>
      <p:pic>
        <p:nvPicPr>
          <p:cNvPr id="19" name="Picture 18">
            <a:extLst>
              <a:ext uri="{FF2B5EF4-FFF2-40B4-BE49-F238E27FC236}">
                <a16:creationId xmlns:a16="http://schemas.microsoft.com/office/drawing/2014/main" id="{7B0174E0-7F90-EFF6-A107-034AB20A04E1}"/>
              </a:ext>
            </a:extLst>
          </p:cNvPr>
          <p:cNvPicPr>
            <a:picLocks noChangeAspect="1"/>
          </p:cNvPicPr>
          <p:nvPr/>
        </p:nvPicPr>
        <p:blipFill>
          <a:blip r:embed="rId5"/>
          <a:stretch>
            <a:fillRect/>
          </a:stretch>
        </p:blipFill>
        <p:spPr>
          <a:xfrm>
            <a:off x="12027467" y="7239595"/>
            <a:ext cx="2602933" cy="9900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58309" y="1662589"/>
            <a:ext cx="1930598"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1719382"/>
            <a:ext cx="1703189"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RELATIONAL SCHEMA</a:t>
            </a:r>
            <a:endParaRPr lang="en-US" sz="1150" dirty="0"/>
          </a:p>
        </p:txBody>
      </p:sp>
      <p:sp>
        <p:nvSpPr>
          <p:cNvPr id="4" name="Text 2"/>
          <p:cNvSpPr/>
          <p:nvPr/>
        </p:nvSpPr>
        <p:spPr>
          <a:xfrm>
            <a:off x="758309" y="2094547"/>
            <a:ext cx="9479637"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Structural Foundation of DriveLearn Tables</a:t>
            </a:r>
            <a:endParaRPr lang="en-US" sz="3900" dirty="0"/>
          </a:p>
        </p:txBody>
      </p:sp>
      <p:sp>
        <p:nvSpPr>
          <p:cNvPr id="5" name="Shape 3"/>
          <p:cNvSpPr/>
          <p:nvPr/>
        </p:nvSpPr>
        <p:spPr>
          <a:xfrm>
            <a:off x="758309" y="3002399"/>
            <a:ext cx="13113782" cy="2744748"/>
          </a:xfrm>
          <a:prstGeom prst="roundRect">
            <a:avLst>
              <a:gd name="adj" fmla="val 10360"/>
            </a:avLst>
          </a:prstGeom>
          <a:noFill/>
          <a:ln w="7620">
            <a:solidFill>
              <a:srgbClr val="000000">
                <a:alpha val="8000"/>
              </a:srgbClr>
            </a:solidFill>
            <a:prstDash val="solid"/>
          </a:ln>
        </p:spPr>
        <p:txBody>
          <a:bodyPr/>
          <a:lstStyle/>
          <a:p>
            <a:endParaRPr lang="en-US"/>
          </a:p>
        </p:txBody>
      </p:sp>
      <p:sp>
        <p:nvSpPr>
          <p:cNvPr id="6" name="Shape 4"/>
          <p:cNvSpPr/>
          <p:nvPr/>
        </p:nvSpPr>
        <p:spPr>
          <a:xfrm>
            <a:off x="765929" y="3010019"/>
            <a:ext cx="13098542" cy="545902"/>
          </a:xfrm>
          <a:prstGeom prst="rect">
            <a:avLst/>
          </a:prstGeom>
          <a:solidFill>
            <a:srgbClr val="FFFFFF">
              <a:alpha val="4000"/>
            </a:srgbClr>
          </a:solidFill>
          <a:ln/>
        </p:spPr>
        <p:txBody>
          <a:bodyPr/>
          <a:lstStyle/>
          <a:p>
            <a:endParaRPr lang="en-US"/>
          </a:p>
        </p:txBody>
      </p:sp>
      <p:sp>
        <p:nvSpPr>
          <p:cNvPr id="7" name="Text 5"/>
          <p:cNvSpPr/>
          <p:nvPr/>
        </p:nvSpPr>
        <p:spPr>
          <a:xfrm>
            <a:off x="955596" y="3131344"/>
            <a:ext cx="2236708"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AI_Models</a:t>
            </a:r>
            <a:endParaRPr lang="en-US" sz="1450" dirty="0"/>
          </a:p>
        </p:txBody>
      </p:sp>
      <p:sp>
        <p:nvSpPr>
          <p:cNvPr id="8" name="Text 6"/>
          <p:cNvSpPr/>
          <p:nvPr/>
        </p:nvSpPr>
        <p:spPr>
          <a:xfrm>
            <a:off x="3579019" y="3131344"/>
            <a:ext cx="10095905" cy="303252"/>
          </a:xfrm>
          <a:prstGeom prst="rect">
            <a:avLst/>
          </a:prstGeom>
          <a:noFill/>
          <a:ln/>
        </p:spPr>
        <p:txBody>
          <a:bodyPr wrap="none" lIns="0" tIns="0" rIns="0" bIns="0" rtlCol="0" anchor="t"/>
          <a:lstStyle/>
          <a:p>
            <a:pPr marL="0" indent="0" algn="l">
              <a:lnSpc>
                <a:spcPts val="2350"/>
              </a:lnSpc>
              <a:buNone/>
            </a:pPr>
            <a:r>
              <a:rPr lang="en-US" sz="1450" b="1" dirty="0">
                <a:solidFill>
                  <a:srgbClr val="384653"/>
                </a:solidFill>
                <a:latin typeface="Montserrat" pitchFamily="34" charset="0"/>
                <a:ea typeface="Montserrat" pitchFamily="34" charset="-122"/>
                <a:cs typeface="Montserrat" pitchFamily="34" charset="-120"/>
              </a:rPr>
              <a:t>model_id</a:t>
            </a:r>
            <a:r>
              <a:rPr lang="en-US" sz="1450" dirty="0">
                <a:solidFill>
                  <a:srgbClr val="384653"/>
                </a:solidFill>
                <a:latin typeface="Montserrat" pitchFamily="34" charset="0"/>
                <a:ea typeface="Montserrat" pitchFamily="34" charset="-122"/>
                <a:cs typeface="Montserrat" pitchFamily="34" charset="-120"/>
              </a:rPr>
              <a:t>, version_name, architecture, deployment_date</a:t>
            </a:r>
            <a:endParaRPr lang="en-US" sz="1450" dirty="0"/>
          </a:p>
        </p:txBody>
      </p:sp>
      <p:sp>
        <p:nvSpPr>
          <p:cNvPr id="9" name="Shape 7"/>
          <p:cNvSpPr/>
          <p:nvPr/>
        </p:nvSpPr>
        <p:spPr>
          <a:xfrm>
            <a:off x="765929" y="3555921"/>
            <a:ext cx="13098542" cy="545902"/>
          </a:xfrm>
          <a:prstGeom prst="rect">
            <a:avLst/>
          </a:prstGeom>
          <a:solidFill>
            <a:srgbClr val="000000">
              <a:alpha val="4000"/>
            </a:srgbClr>
          </a:solidFill>
          <a:ln/>
        </p:spPr>
        <p:txBody>
          <a:bodyPr/>
          <a:lstStyle/>
          <a:p>
            <a:endParaRPr lang="en-US"/>
          </a:p>
        </p:txBody>
      </p:sp>
      <p:sp>
        <p:nvSpPr>
          <p:cNvPr id="10" name="Text 8"/>
          <p:cNvSpPr/>
          <p:nvPr/>
        </p:nvSpPr>
        <p:spPr>
          <a:xfrm>
            <a:off x="955596" y="3677245"/>
            <a:ext cx="2236708"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Vehicles</a:t>
            </a:r>
            <a:endParaRPr lang="en-US" sz="1450" dirty="0"/>
          </a:p>
        </p:txBody>
      </p:sp>
      <p:sp>
        <p:nvSpPr>
          <p:cNvPr id="11" name="Text 9"/>
          <p:cNvSpPr/>
          <p:nvPr/>
        </p:nvSpPr>
        <p:spPr>
          <a:xfrm>
            <a:off x="3579019" y="3677245"/>
            <a:ext cx="10095905" cy="303252"/>
          </a:xfrm>
          <a:prstGeom prst="rect">
            <a:avLst/>
          </a:prstGeom>
          <a:noFill/>
          <a:ln/>
        </p:spPr>
        <p:txBody>
          <a:bodyPr wrap="none" lIns="0" tIns="0" rIns="0" bIns="0" rtlCol="0" anchor="t"/>
          <a:lstStyle/>
          <a:p>
            <a:pPr marL="0" indent="0" algn="l">
              <a:lnSpc>
                <a:spcPts val="2350"/>
              </a:lnSpc>
              <a:buNone/>
            </a:pPr>
            <a:r>
              <a:rPr lang="en-US" sz="1450" b="1" dirty="0">
                <a:solidFill>
                  <a:srgbClr val="384653"/>
                </a:solidFill>
                <a:latin typeface="Montserrat" pitchFamily="34" charset="0"/>
                <a:ea typeface="Montserrat" pitchFamily="34" charset="-122"/>
                <a:cs typeface="Montserrat" pitchFamily="34" charset="-120"/>
              </a:rPr>
              <a:t>vehicle_id</a:t>
            </a:r>
            <a:r>
              <a:rPr lang="en-US" sz="1450" dirty="0">
                <a:solidFill>
                  <a:srgbClr val="384653"/>
                </a:solidFill>
                <a:latin typeface="Montserrat" pitchFamily="34" charset="0"/>
                <a:ea typeface="Montserrat" pitchFamily="34" charset="-122"/>
                <a:cs typeface="Montserrat" pitchFamily="34" charset="-120"/>
              </a:rPr>
              <a:t>, make, model, year, sensor_config</a:t>
            </a:r>
            <a:endParaRPr lang="en-US" sz="1450" dirty="0"/>
          </a:p>
        </p:txBody>
      </p:sp>
      <p:sp>
        <p:nvSpPr>
          <p:cNvPr id="12" name="Shape 10"/>
          <p:cNvSpPr/>
          <p:nvPr/>
        </p:nvSpPr>
        <p:spPr>
          <a:xfrm>
            <a:off x="765929" y="4101822"/>
            <a:ext cx="13098542" cy="545902"/>
          </a:xfrm>
          <a:prstGeom prst="rect">
            <a:avLst/>
          </a:prstGeom>
          <a:solidFill>
            <a:srgbClr val="FFFFFF">
              <a:alpha val="4000"/>
            </a:srgbClr>
          </a:solidFill>
          <a:ln/>
        </p:spPr>
        <p:txBody>
          <a:bodyPr/>
          <a:lstStyle/>
          <a:p>
            <a:endParaRPr lang="en-US"/>
          </a:p>
        </p:txBody>
      </p:sp>
      <p:sp>
        <p:nvSpPr>
          <p:cNvPr id="13" name="Text 11"/>
          <p:cNvSpPr/>
          <p:nvPr/>
        </p:nvSpPr>
        <p:spPr>
          <a:xfrm>
            <a:off x="955596" y="4223147"/>
            <a:ext cx="2236708"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Scenarios</a:t>
            </a:r>
            <a:endParaRPr lang="en-US" sz="1450" dirty="0"/>
          </a:p>
        </p:txBody>
      </p:sp>
      <p:sp>
        <p:nvSpPr>
          <p:cNvPr id="14" name="Text 12"/>
          <p:cNvSpPr/>
          <p:nvPr/>
        </p:nvSpPr>
        <p:spPr>
          <a:xfrm>
            <a:off x="3579019" y="4223147"/>
            <a:ext cx="10095905" cy="303252"/>
          </a:xfrm>
          <a:prstGeom prst="rect">
            <a:avLst/>
          </a:prstGeom>
          <a:noFill/>
          <a:ln/>
        </p:spPr>
        <p:txBody>
          <a:bodyPr wrap="none" lIns="0" tIns="0" rIns="0" bIns="0" rtlCol="0" anchor="t"/>
          <a:lstStyle/>
          <a:p>
            <a:pPr marL="0" indent="0" algn="l">
              <a:lnSpc>
                <a:spcPts val="2350"/>
              </a:lnSpc>
              <a:buNone/>
            </a:pPr>
            <a:r>
              <a:rPr lang="en-US" sz="1450" b="1" dirty="0">
                <a:solidFill>
                  <a:srgbClr val="384653"/>
                </a:solidFill>
                <a:latin typeface="Montserrat" pitchFamily="34" charset="0"/>
                <a:ea typeface="Montserrat" pitchFamily="34" charset="-122"/>
                <a:cs typeface="Montserrat" pitchFamily="34" charset="-120"/>
              </a:rPr>
              <a:t>scenario_id</a:t>
            </a:r>
            <a:r>
              <a:rPr lang="en-US" sz="1450" dirty="0">
                <a:solidFill>
                  <a:srgbClr val="384653"/>
                </a:solidFill>
                <a:latin typeface="Montserrat" pitchFamily="34" charset="0"/>
                <a:ea typeface="Montserrat" pitchFamily="34" charset="-122"/>
                <a:cs typeface="Montserrat" pitchFamily="34" charset="-120"/>
              </a:rPr>
              <a:t>, weather, light_level, road_type, traffic_density</a:t>
            </a:r>
            <a:endParaRPr lang="en-US" sz="1450" dirty="0"/>
          </a:p>
        </p:txBody>
      </p:sp>
      <p:sp>
        <p:nvSpPr>
          <p:cNvPr id="15" name="Shape 13"/>
          <p:cNvSpPr/>
          <p:nvPr/>
        </p:nvSpPr>
        <p:spPr>
          <a:xfrm>
            <a:off x="765929" y="4647724"/>
            <a:ext cx="13098542" cy="545902"/>
          </a:xfrm>
          <a:prstGeom prst="rect">
            <a:avLst/>
          </a:prstGeom>
          <a:solidFill>
            <a:srgbClr val="000000">
              <a:alpha val="4000"/>
            </a:srgbClr>
          </a:solidFill>
          <a:ln/>
        </p:spPr>
        <p:txBody>
          <a:bodyPr/>
          <a:lstStyle/>
          <a:p>
            <a:endParaRPr lang="en-US"/>
          </a:p>
        </p:txBody>
      </p:sp>
      <p:sp>
        <p:nvSpPr>
          <p:cNvPr id="16" name="Text 14"/>
          <p:cNvSpPr/>
          <p:nvPr/>
        </p:nvSpPr>
        <p:spPr>
          <a:xfrm>
            <a:off x="955596" y="4769048"/>
            <a:ext cx="2236708"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Test_Runs</a:t>
            </a:r>
            <a:endParaRPr lang="en-US" sz="1450" dirty="0"/>
          </a:p>
        </p:txBody>
      </p:sp>
      <p:sp>
        <p:nvSpPr>
          <p:cNvPr id="17" name="Text 15"/>
          <p:cNvSpPr/>
          <p:nvPr/>
        </p:nvSpPr>
        <p:spPr>
          <a:xfrm>
            <a:off x="3579019" y="4769048"/>
            <a:ext cx="10095905" cy="303252"/>
          </a:xfrm>
          <a:prstGeom prst="rect">
            <a:avLst/>
          </a:prstGeom>
          <a:noFill/>
          <a:ln/>
        </p:spPr>
        <p:txBody>
          <a:bodyPr wrap="none" lIns="0" tIns="0" rIns="0" bIns="0" rtlCol="0" anchor="t"/>
          <a:lstStyle/>
          <a:p>
            <a:pPr marL="0" indent="0" algn="l">
              <a:lnSpc>
                <a:spcPts val="2350"/>
              </a:lnSpc>
              <a:buNone/>
            </a:pPr>
            <a:r>
              <a:rPr lang="en-US" sz="1450" b="1" dirty="0">
                <a:solidFill>
                  <a:srgbClr val="384653"/>
                </a:solidFill>
                <a:latin typeface="Montserrat" pitchFamily="34" charset="0"/>
                <a:ea typeface="Montserrat" pitchFamily="34" charset="-122"/>
                <a:cs typeface="Montserrat" pitchFamily="34" charset="-120"/>
              </a:rPr>
              <a:t>run_id</a:t>
            </a:r>
            <a:r>
              <a:rPr lang="en-US" sz="1450" dirty="0">
                <a:solidFill>
                  <a:srgbClr val="384653"/>
                </a:solidFill>
                <a:latin typeface="Montserrat" pitchFamily="34" charset="0"/>
                <a:ea typeface="Montserrat" pitchFamily="34" charset="-122"/>
                <a:cs typeface="Montserrat" pitchFamily="34" charset="-120"/>
              </a:rPr>
              <a:t>, vehicle_id (FK), model_id (FK), scenario_id (FK), test_date, duration_minutes</a:t>
            </a:r>
            <a:endParaRPr lang="en-US" sz="1450" dirty="0"/>
          </a:p>
        </p:txBody>
      </p:sp>
      <p:sp>
        <p:nvSpPr>
          <p:cNvPr id="18" name="Shape 16"/>
          <p:cNvSpPr/>
          <p:nvPr/>
        </p:nvSpPr>
        <p:spPr>
          <a:xfrm>
            <a:off x="765929" y="5193625"/>
            <a:ext cx="13098542" cy="545902"/>
          </a:xfrm>
          <a:prstGeom prst="rect">
            <a:avLst/>
          </a:prstGeom>
          <a:solidFill>
            <a:srgbClr val="FFFFFF">
              <a:alpha val="4000"/>
            </a:srgbClr>
          </a:solidFill>
          <a:ln/>
        </p:spPr>
        <p:txBody>
          <a:bodyPr/>
          <a:lstStyle/>
          <a:p>
            <a:endParaRPr lang="en-US"/>
          </a:p>
        </p:txBody>
      </p:sp>
      <p:sp>
        <p:nvSpPr>
          <p:cNvPr id="19" name="Text 17"/>
          <p:cNvSpPr/>
          <p:nvPr/>
        </p:nvSpPr>
        <p:spPr>
          <a:xfrm>
            <a:off x="955596" y="5314950"/>
            <a:ext cx="2236708"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Detections</a:t>
            </a:r>
            <a:endParaRPr lang="en-US" sz="1450" dirty="0"/>
          </a:p>
        </p:txBody>
      </p:sp>
      <p:sp>
        <p:nvSpPr>
          <p:cNvPr id="20" name="Text 18"/>
          <p:cNvSpPr/>
          <p:nvPr/>
        </p:nvSpPr>
        <p:spPr>
          <a:xfrm>
            <a:off x="3579019" y="5314950"/>
            <a:ext cx="10095905" cy="303252"/>
          </a:xfrm>
          <a:prstGeom prst="rect">
            <a:avLst/>
          </a:prstGeom>
          <a:noFill/>
          <a:ln/>
        </p:spPr>
        <p:txBody>
          <a:bodyPr wrap="none" lIns="0" tIns="0" rIns="0" bIns="0" rtlCol="0" anchor="t"/>
          <a:lstStyle/>
          <a:p>
            <a:pPr marL="0" indent="0" algn="l">
              <a:lnSpc>
                <a:spcPts val="2350"/>
              </a:lnSpc>
              <a:buNone/>
            </a:pPr>
            <a:r>
              <a:rPr lang="en-US" sz="1450" b="1" dirty="0">
                <a:solidFill>
                  <a:srgbClr val="384653"/>
                </a:solidFill>
                <a:latin typeface="Montserrat" pitchFamily="34" charset="0"/>
                <a:ea typeface="Montserrat" pitchFamily="34" charset="-122"/>
                <a:cs typeface="Montserrat" pitchFamily="34" charset="-120"/>
              </a:rPr>
              <a:t>detection_id</a:t>
            </a:r>
            <a:r>
              <a:rPr lang="en-US" sz="1450" dirty="0">
                <a:solidFill>
                  <a:srgbClr val="384653"/>
                </a:solidFill>
                <a:latin typeface="Montserrat" pitchFamily="34" charset="0"/>
                <a:ea typeface="Montserrat" pitchFamily="34" charset="-122"/>
                <a:cs typeface="Montserrat" pitchFamily="34" charset="-120"/>
              </a:rPr>
              <a:t>, run_id (FK), object_type, confidence_score, bounding_box_coords</a:t>
            </a:r>
            <a:endParaRPr lang="en-US" sz="1450" dirty="0"/>
          </a:p>
        </p:txBody>
      </p:sp>
      <p:sp>
        <p:nvSpPr>
          <p:cNvPr id="21" name="Text 19"/>
          <p:cNvSpPr/>
          <p:nvPr/>
        </p:nvSpPr>
        <p:spPr>
          <a:xfrm>
            <a:off x="758309" y="5960388"/>
            <a:ext cx="13113782"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This relational schema defines the tables and their attributes, establishing primary keys for unique identification and foreign keys to enforce referential integrity across the database.</a:t>
            </a:r>
            <a:endParaRPr lang="en-US" sz="1450" dirty="0"/>
          </a:p>
        </p:txBody>
      </p:sp>
      <p:pic>
        <p:nvPicPr>
          <p:cNvPr id="24" name="Picture 23">
            <a:extLst>
              <a:ext uri="{FF2B5EF4-FFF2-40B4-BE49-F238E27FC236}">
                <a16:creationId xmlns:a16="http://schemas.microsoft.com/office/drawing/2014/main" id="{447FEB4B-BA8E-17E1-3B0A-FBB4D075FB2E}"/>
              </a:ext>
            </a:extLst>
          </p:cNvPr>
          <p:cNvPicPr>
            <a:picLocks noChangeAspect="1"/>
          </p:cNvPicPr>
          <p:nvPr/>
        </p:nvPicPr>
        <p:blipFill>
          <a:blip r:embed="rId3"/>
          <a:stretch>
            <a:fillRect/>
          </a:stretch>
        </p:blipFill>
        <p:spPr>
          <a:xfrm>
            <a:off x="11280280" y="6972301"/>
            <a:ext cx="3305710" cy="1257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58309" y="1036677"/>
            <a:ext cx="1656874"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1093470"/>
            <a:ext cx="1429464"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DATA DICTIONARY</a:t>
            </a:r>
            <a:endParaRPr lang="en-US" sz="1150" dirty="0"/>
          </a:p>
        </p:txBody>
      </p:sp>
      <p:sp>
        <p:nvSpPr>
          <p:cNvPr id="4" name="Text 2"/>
          <p:cNvSpPr/>
          <p:nvPr/>
        </p:nvSpPr>
        <p:spPr>
          <a:xfrm>
            <a:off x="758309" y="1468636"/>
            <a:ext cx="8213527"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Key Attributes and Their Significance</a:t>
            </a:r>
            <a:endParaRPr lang="en-US" sz="3900" dirty="0"/>
          </a:p>
        </p:txBody>
      </p:sp>
      <p:sp>
        <p:nvSpPr>
          <p:cNvPr id="5" name="Shape 3"/>
          <p:cNvSpPr/>
          <p:nvPr/>
        </p:nvSpPr>
        <p:spPr>
          <a:xfrm>
            <a:off x="758309" y="2660809"/>
            <a:ext cx="6462117" cy="2029063"/>
          </a:xfrm>
          <a:prstGeom prst="roundRect">
            <a:avLst>
              <a:gd name="adj" fmla="val 5408"/>
            </a:avLst>
          </a:prstGeom>
          <a:solidFill>
            <a:srgbClr val="FFFFF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58309" y="2637949"/>
            <a:ext cx="6462117" cy="91440"/>
          </a:xfrm>
          <a:prstGeom prst="rect">
            <a:avLst/>
          </a:prstGeom>
        </p:spPr>
      </p:pic>
      <p:pic>
        <p:nvPicPr>
          <p:cNvPr id="7" name="Image 1" descr="preencoded.png"/>
          <p:cNvPicPr>
            <a:picLocks noChangeAspect="1"/>
          </p:cNvPicPr>
          <p:nvPr/>
        </p:nvPicPr>
        <p:blipFill>
          <a:blip r:embed="rId4"/>
          <a:stretch>
            <a:fillRect/>
          </a:stretch>
        </p:blipFill>
        <p:spPr>
          <a:xfrm>
            <a:off x="3704987" y="2376488"/>
            <a:ext cx="568643" cy="568643"/>
          </a:xfrm>
          <a:prstGeom prst="rect">
            <a:avLst/>
          </a:prstGeom>
        </p:spPr>
      </p:pic>
      <p:pic>
        <p:nvPicPr>
          <p:cNvPr id="8"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75603" y="2547104"/>
            <a:ext cx="227409" cy="227409"/>
          </a:xfrm>
          <a:prstGeom prst="rect">
            <a:avLst/>
          </a:prstGeom>
        </p:spPr>
      </p:pic>
      <p:sp>
        <p:nvSpPr>
          <p:cNvPr id="9" name="Text 4"/>
          <p:cNvSpPr/>
          <p:nvPr/>
        </p:nvSpPr>
        <p:spPr>
          <a:xfrm>
            <a:off x="970717" y="3134678"/>
            <a:ext cx="3278505"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Detections.confidence_score</a:t>
            </a:r>
            <a:endParaRPr lang="en-US" sz="1950" dirty="0"/>
          </a:p>
        </p:txBody>
      </p:sp>
      <p:sp>
        <p:nvSpPr>
          <p:cNvPr id="10" name="Text 5"/>
          <p:cNvSpPr/>
          <p:nvPr/>
        </p:nvSpPr>
        <p:spPr>
          <a:xfrm>
            <a:off x="970717" y="3560088"/>
            <a:ext cx="6037302" cy="91737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Data Type: </a:t>
            </a:r>
            <a:r>
              <a:rPr lang="en-US" sz="1450" dirty="0">
                <a:solidFill>
                  <a:srgbClr val="384653"/>
                </a:solidFill>
                <a:highlight>
                  <a:srgbClr val="F2F2F2"/>
                </a:highlight>
                <a:latin typeface="Consolas" pitchFamily="34" charset="0"/>
                <a:ea typeface="Consolas" pitchFamily="34" charset="-122"/>
                <a:cs typeface="Consolas" pitchFamily="34" charset="-120"/>
              </a:rPr>
              <a:t>DECIMAL(4,3)</a:t>
            </a:r>
            <a:r>
              <a:rPr lang="en-US" sz="1450" dirty="0">
                <a:solidFill>
                  <a:srgbClr val="384653"/>
                </a:solidFill>
                <a:latin typeface="Montserrat" pitchFamily="34" charset="0"/>
                <a:ea typeface="Montserrat" pitchFamily="34" charset="-122"/>
                <a:cs typeface="Montserrat" pitchFamily="34" charset="-120"/>
              </a:rPr>
              <a:t>. This attribute is crucial for precise AI probability analysis, quantifying the AI's certainty in its object identifications (e.g., 0.985 for high confidence).</a:t>
            </a:r>
            <a:endParaRPr lang="en-US" sz="1450" dirty="0"/>
          </a:p>
        </p:txBody>
      </p:sp>
      <p:sp>
        <p:nvSpPr>
          <p:cNvPr id="11" name="Shape 6"/>
          <p:cNvSpPr/>
          <p:nvPr/>
        </p:nvSpPr>
        <p:spPr>
          <a:xfrm>
            <a:off x="7409974" y="2660809"/>
            <a:ext cx="6462117" cy="2029063"/>
          </a:xfrm>
          <a:prstGeom prst="roundRect">
            <a:avLst>
              <a:gd name="adj" fmla="val 5408"/>
            </a:avLst>
          </a:prstGeom>
          <a:solidFill>
            <a:srgbClr val="FFFFFF"/>
          </a:solidFill>
          <a:ln/>
        </p:spPr>
        <p:txBody>
          <a:bodyPr/>
          <a:lstStyle/>
          <a:p>
            <a:endParaRPr lang="en-US"/>
          </a:p>
        </p:txBody>
      </p:sp>
      <p:pic>
        <p:nvPicPr>
          <p:cNvPr id="12" name="Image 3" descr="preencoded.png"/>
          <p:cNvPicPr>
            <a:picLocks noChangeAspect="1"/>
          </p:cNvPicPr>
          <p:nvPr/>
        </p:nvPicPr>
        <p:blipFill>
          <a:blip r:embed="rId3"/>
          <a:stretch>
            <a:fillRect/>
          </a:stretch>
        </p:blipFill>
        <p:spPr>
          <a:xfrm>
            <a:off x="7409974" y="2637949"/>
            <a:ext cx="6462117" cy="91440"/>
          </a:xfrm>
          <a:prstGeom prst="rect">
            <a:avLst/>
          </a:prstGeom>
        </p:spPr>
      </p:pic>
      <p:pic>
        <p:nvPicPr>
          <p:cNvPr id="13" name="Image 4" descr="preencoded.png"/>
          <p:cNvPicPr>
            <a:picLocks noChangeAspect="1"/>
          </p:cNvPicPr>
          <p:nvPr/>
        </p:nvPicPr>
        <p:blipFill>
          <a:blip r:embed="rId4"/>
          <a:stretch>
            <a:fillRect/>
          </a:stretch>
        </p:blipFill>
        <p:spPr>
          <a:xfrm>
            <a:off x="10356652" y="2376488"/>
            <a:ext cx="568643" cy="568643"/>
          </a:xfrm>
          <a:prstGeom prst="rect">
            <a:avLst/>
          </a:prstGeom>
        </p:spPr>
      </p:pic>
      <p:pic>
        <p:nvPicPr>
          <p:cNvPr id="14"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27268" y="2547104"/>
            <a:ext cx="227409" cy="227409"/>
          </a:xfrm>
          <a:prstGeom prst="rect">
            <a:avLst/>
          </a:prstGeom>
        </p:spPr>
      </p:pic>
      <p:sp>
        <p:nvSpPr>
          <p:cNvPr id="15" name="Text 7"/>
          <p:cNvSpPr/>
          <p:nvPr/>
        </p:nvSpPr>
        <p:spPr>
          <a:xfrm>
            <a:off x="7622381" y="3134678"/>
            <a:ext cx="2705933"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Scenarios.weather_type</a:t>
            </a:r>
            <a:endParaRPr lang="en-US" sz="1950" dirty="0"/>
          </a:p>
        </p:txBody>
      </p:sp>
      <p:sp>
        <p:nvSpPr>
          <p:cNvPr id="16" name="Text 8"/>
          <p:cNvSpPr/>
          <p:nvPr/>
        </p:nvSpPr>
        <p:spPr>
          <a:xfrm>
            <a:off x="7622381" y="3560088"/>
            <a:ext cx="6037302" cy="91737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Data Type: </a:t>
            </a:r>
            <a:r>
              <a:rPr lang="en-US" sz="1450" dirty="0">
                <a:solidFill>
                  <a:srgbClr val="384653"/>
                </a:solidFill>
                <a:highlight>
                  <a:srgbClr val="F2F2F2"/>
                </a:highlight>
                <a:latin typeface="Consolas" pitchFamily="34" charset="0"/>
                <a:ea typeface="Consolas" pitchFamily="34" charset="-122"/>
                <a:cs typeface="Consolas" pitchFamily="34" charset="-120"/>
              </a:rPr>
              <a:t>VARCHAR(30)</a:t>
            </a:r>
            <a:r>
              <a:rPr lang="en-US" sz="1450" dirty="0">
                <a:solidFill>
                  <a:srgbClr val="384653"/>
                </a:solidFill>
                <a:latin typeface="Montserrat" pitchFamily="34" charset="0"/>
                <a:ea typeface="Montserrat" pitchFamily="34" charset="-122"/>
                <a:cs typeface="Montserrat" pitchFamily="34" charset="-120"/>
              </a:rPr>
              <a:t>. This categorical data enables efficient filtering and analysis of AI performance under diverse conditions (e.g., 'Rain', 'Fog', 'Sunny', 'Snow').</a:t>
            </a:r>
            <a:endParaRPr lang="en-US" sz="1450" dirty="0"/>
          </a:p>
        </p:txBody>
      </p:sp>
      <p:sp>
        <p:nvSpPr>
          <p:cNvPr id="17" name="Shape 9"/>
          <p:cNvSpPr/>
          <p:nvPr/>
        </p:nvSpPr>
        <p:spPr>
          <a:xfrm>
            <a:off x="758309" y="5163741"/>
            <a:ext cx="6462117" cy="2029063"/>
          </a:xfrm>
          <a:prstGeom prst="roundRect">
            <a:avLst>
              <a:gd name="adj" fmla="val 5408"/>
            </a:avLst>
          </a:prstGeom>
          <a:solidFill>
            <a:srgbClr val="FFFFFF"/>
          </a:solidFill>
          <a:ln/>
        </p:spPr>
        <p:txBody>
          <a:bodyPr/>
          <a:lstStyle/>
          <a:p>
            <a:endParaRPr lang="en-US"/>
          </a:p>
        </p:txBody>
      </p:sp>
      <p:pic>
        <p:nvPicPr>
          <p:cNvPr id="18" name="Image 6" descr="preencoded.png"/>
          <p:cNvPicPr>
            <a:picLocks noChangeAspect="1"/>
          </p:cNvPicPr>
          <p:nvPr/>
        </p:nvPicPr>
        <p:blipFill>
          <a:blip r:embed="rId3"/>
          <a:stretch>
            <a:fillRect/>
          </a:stretch>
        </p:blipFill>
        <p:spPr>
          <a:xfrm>
            <a:off x="758309" y="5140881"/>
            <a:ext cx="6462117" cy="91440"/>
          </a:xfrm>
          <a:prstGeom prst="rect">
            <a:avLst/>
          </a:prstGeom>
        </p:spPr>
      </p:pic>
      <p:pic>
        <p:nvPicPr>
          <p:cNvPr id="19" name="Image 7" descr="preencoded.png"/>
          <p:cNvPicPr>
            <a:picLocks noChangeAspect="1"/>
          </p:cNvPicPr>
          <p:nvPr/>
        </p:nvPicPr>
        <p:blipFill>
          <a:blip r:embed="rId4"/>
          <a:stretch>
            <a:fillRect/>
          </a:stretch>
        </p:blipFill>
        <p:spPr>
          <a:xfrm>
            <a:off x="3704987" y="4879419"/>
            <a:ext cx="568643" cy="568643"/>
          </a:xfrm>
          <a:prstGeom prst="rect">
            <a:avLst/>
          </a:prstGeom>
        </p:spPr>
      </p:pic>
      <p:pic>
        <p:nvPicPr>
          <p:cNvPr id="20" name="Image 8"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75603" y="5050036"/>
            <a:ext cx="227409" cy="227409"/>
          </a:xfrm>
          <a:prstGeom prst="rect">
            <a:avLst/>
          </a:prstGeom>
        </p:spPr>
      </p:pic>
      <p:sp>
        <p:nvSpPr>
          <p:cNvPr id="21" name="Text 10"/>
          <p:cNvSpPr/>
          <p:nvPr/>
        </p:nvSpPr>
        <p:spPr>
          <a:xfrm>
            <a:off x="970717" y="5637609"/>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Test_Runs.test_date</a:t>
            </a:r>
            <a:endParaRPr lang="en-US" sz="1950" dirty="0"/>
          </a:p>
        </p:txBody>
      </p:sp>
      <p:sp>
        <p:nvSpPr>
          <p:cNvPr id="22" name="Text 11"/>
          <p:cNvSpPr/>
          <p:nvPr/>
        </p:nvSpPr>
        <p:spPr>
          <a:xfrm>
            <a:off x="970717" y="6063020"/>
            <a:ext cx="6037302" cy="91737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Data Type: </a:t>
            </a:r>
            <a:r>
              <a:rPr lang="en-US" sz="1450" dirty="0">
                <a:solidFill>
                  <a:srgbClr val="384653"/>
                </a:solidFill>
                <a:highlight>
                  <a:srgbClr val="F2F2F2"/>
                </a:highlight>
                <a:latin typeface="Consolas" pitchFamily="34" charset="0"/>
                <a:ea typeface="Consolas" pitchFamily="34" charset="-122"/>
                <a:cs typeface="Consolas" pitchFamily="34" charset="-120"/>
              </a:rPr>
              <a:t>TIMESTAMP</a:t>
            </a:r>
            <a:r>
              <a:rPr lang="en-US" sz="1450" dirty="0">
                <a:solidFill>
                  <a:srgbClr val="384653"/>
                </a:solidFill>
                <a:latin typeface="Montserrat" pitchFamily="34" charset="0"/>
                <a:ea typeface="Montserrat" pitchFamily="34" charset="-122"/>
                <a:cs typeface="Montserrat" pitchFamily="34" charset="-120"/>
              </a:rPr>
              <a:t>. Essential for time-series analysis, allowing engineers to track AI model improvements and regressions over time in safety performance.</a:t>
            </a:r>
            <a:endParaRPr lang="en-US" sz="1450" dirty="0"/>
          </a:p>
        </p:txBody>
      </p:sp>
      <p:sp>
        <p:nvSpPr>
          <p:cNvPr id="23" name="Shape 12"/>
          <p:cNvSpPr/>
          <p:nvPr/>
        </p:nvSpPr>
        <p:spPr>
          <a:xfrm>
            <a:off x="7409974" y="5163741"/>
            <a:ext cx="6462117" cy="2029063"/>
          </a:xfrm>
          <a:prstGeom prst="roundRect">
            <a:avLst>
              <a:gd name="adj" fmla="val 5408"/>
            </a:avLst>
          </a:prstGeom>
          <a:solidFill>
            <a:srgbClr val="FFFFFF"/>
          </a:solidFill>
          <a:ln/>
        </p:spPr>
        <p:txBody>
          <a:bodyPr/>
          <a:lstStyle/>
          <a:p>
            <a:endParaRPr lang="en-US"/>
          </a:p>
        </p:txBody>
      </p:sp>
      <p:pic>
        <p:nvPicPr>
          <p:cNvPr id="24" name="Image 9" descr="preencoded.png"/>
          <p:cNvPicPr>
            <a:picLocks noChangeAspect="1"/>
          </p:cNvPicPr>
          <p:nvPr/>
        </p:nvPicPr>
        <p:blipFill>
          <a:blip r:embed="rId3"/>
          <a:stretch>
            <a:fillRect/>
          </a:stretch>
        </p:blipFill>
        <p:spPr>
          <a:xfrm>
            <a:off x="7409974" y="5140881"/>
            <a:ext cx="6462117" cy="91440"/>
          </a:xfrm>
          <a:prstGeom prst="rect">
            <a:avLst/>
          </a:prstGeom>
        </p:spPr>
      </p:pic>
      <p:pic>
        <p:nvPicPr>
          <p:cNvPr id="25" name="Image 10" descr="preencoded.png"/>
          <p:cNvPicPr>
            <a:picLocks noChangeAspect="1"/>
          </p:cNvPicPr>
          <p:nvPr/>
        </p:nvPicPr>
        <p:blipFill>
          <a:blip r:embed="rId4"/>
          <a:stretch>
            <a:fillRect/>
          </a:stretch>
        </p:blipFill>
        <p:spPr>
          <a:xfrm>
            <a:off x="10356652" y="4879419"/>
            <a:ext cx="568643" cy="568643"/>
          </a:xfrm>
          <a:prstGeom prst="rect">
            <a:avLst/>
          </a:prstGeom>
        </p:spPr>
      </p:pic>
      <p:pic>
        <p:nvPicPr>
          <p:cNvPr id="26" name="Image 11"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527268" y="5050036"/>
            <a:ext cx="227409" cy="227409"/>
          </a:xfrm>
          <a:prstGeom prst="rect">
            <a:avLst/>
          </a:prstGeom>
        </p:spPr>
      </p:pic>
      <p:sp>
        <p:nvSpPr>
          <p:cNvPr id="27" name="Text 13"/>
          <p:cNvSpPr/>
          <p:nvPr/>
        </p:nvSpPr>
        <p:spPr>
          <a:xfrm>
            <a:off x="7622381" y="5637609"/>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Scenarios.road_type</a:t>
            </a:r>
            <a:endParaRPr lang="en-US" sz="1950" dirty="0"/>
          </a:p>
        </p:txBody>
      </p:sp>
      <p:sp>
        <p:nvSpPr>
          <p:cNvPr id="28" name="Text 14"/>
          <p:cNvSpPr/>
          <p:nvPr/>
        </p:nvSpPr>
        <p:spPr>
          <a:xfrm>
            <a:off x="7622381" y="6063020"/>
            <a:ext cx="6037302" cy="91737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Data Type: </a:t>
            </a:r>
            <a:r>
              <a:rPr lang="en-US" sz="1450" dirty="0">
                <a:solidFill>
                  <a:srgbClr val="384653"/>
                </a:solidFill>
                <a:highlight>
                  <a:srgbClr val="F2F2F2"/>
                </a:highlight>
                <a:latin typeface="Consolas" pitchFamily="34" charset="0"/>
                <a:ea typeface="Consolas" pitchFamily="34" charset="-122"/>
                <a:cs typeface="Consolas" pitchFamily="34" charset="-120"/>
              </a:rPr>
              <a:t>VARCHAR(30)</a:t>
            </a:r>
            <a:r>
              <a:rPr lang="en-US" sz="1450" dirty="0">
                <a:solidFill>
                  <a:srgbClr val="384653"/>
                </a:solidFill>
                <a:latin typeface="Montserrat" pitchFamily="34" charset="0"/>
                <a:ea typeface="Montserrat" pitchFamily="34" charset="-122"/>
                <a:cs typeface="Montserrat" pitchFamily="34" charset="-120"/>
              </a:rPr>
              <a:t>. Provides context on the driving surface, such as 'Urban', 'Highway', 'Rural', or 'Off-Road', enabling scenario-specific performance evaluation.</a:t>
            </a:r>
            <a:endParaRPr lang="en-US" sz="1450" dirty="0"/>
          </a:p>
        </p:txBody>
      </p:sp>
      <p:pic>
        <p:nvPicPr>
          <p:cNvPr id="34" name="Picture 33">
            <a:extLst>
              <a:ext uri="{FF2B5EF4-FFF2-40B4-BE49-F238E27FC236}">
                <a16:creationId xmlns:a16="http://schemas.microsoft.com/office/drawing/2014/main" id="{BA07FE56-F5E5-379D-D21C-26F1D0DF323D}"/>
              </a:ext>
            </a:extLst>
          </p:cNvPr>
          <p:cNvPicPr>
            <a:picLocks noChangeAspect="1"/>
          </p:cNvPicPr>
          <p:nvPr/>
        </p:nvPicPr>
        <p:blipFill>
          <a:blip r:embed="rId13"/>
          <a:stretch>
            <a:fillRect/>
          </a:stretch>
        </p:blipFill>
        <p:spPr>
          <a:xfrm>
            <a:off x="11345979" y="6980397"/>
            <a:ext cx="3284421" cy="12492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58309" y="1879759"/>
            <a:ext cx="2435185"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1936552"/>
            <a:ext cx="2207776"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DATABASE NORMALIZATION</a:t>
            </a:r>
            <a:endParaRPr lang="en-US" sz="1150" dirty="0"/>
          </a:p>
        </p:txBody>
      </p:sp>
      <p:sp>
        <p:nvSpPr>
          <p:cNvPr id="4" name="Text 2"/>
          <p:cNvSpPr/>
          <p:nvPr/>
        </p:nvSpPr>
        <p:spPr>
          <a:xfrm>
            <a:off x="758309" y="2311718"/>
            <a:ext cx="7363420"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Achieving Data Integrity with 3NF</a:t>
            </a:r>
            <a:endParaRPr lang="en-US" sz="3900" dirty="0"/>
          </a:p>
        </p:txBody>
      </p:sp>
      <p:sp>
        <p:nvSpPr>
          <p:cNvPr id="5" name="Text 3"/>
          <p:cNvSpPr/>
          <p:nvPr/>
        </p:nvSpPr>
        <p:spPr>
          <a:xfrm>
            <a:off x="758309" y="3219569"/>
            <a:ext cx="189548" cy="236934"/>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Barlow Light" pitchFamily="34" charset="0"/>
                <a:ea typeface="Barlow Light" pitchFamily="34" charset="-122"/>
                <a:cs typeface="Barlow Light" pitchFamily="34" charset="-120"/>
              </a:rPr>
              <a:t>01</a:t>
            </a:r>
            <a:endParaRPr lang="en-US" sz="1450" dirty="0"/>
          </a:p>
        </p:txBody>
      </p:sp>
      <p:pic>
        <p:nvPicPr>
          <p:cNvPr id="6" name="Image 0" descr="preencoded.png"/>
          <p:cNvPicPr>
            <a:picLocks noChangeAspect="1"/>
          </p:cNvPicPr>
          <p:nvPr/>
        </p:nvPicPr>
        <p:blipFill>
          <a:blip r:embed="rId3"/>
          <a:stretch>
            <a:fillRect/>
          </a:stretch>
        </p:blipFill>
        <p:spPr>
          <a:xfrm>
            <a:off x="758309" y="3518892"/>
            <a:ext cx="4244816" cy="22860"/>
          </a:xfrm>
          <a:prstGeom prst="rect">
            <a:avLst/>
          </a:prstGeom>
        </p:spPr>
      </p:pic>
      <p:sp>
        <p:nvSpPr>
          <p:cNvPr id="7" name="Text 4"/>
          <p:cNvSpPr/>
          <p:nvPr/>
        </p:nvSpPr>
        <p:spPr>
          <a:xfrm>
            <a:off x="758309" y="3659386"/>
            <a:ext cx="2599730"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First Normal Form (1NF)</a:t>
            </a:r>
            <a:endParaRPr lang="en-US" sz="1950" dirty="0"/>
          </a:p>
        </p:txBody>
      </p:sp>
      <p:sp>
        <p:nvSpPr>
          <p:cNvPr id="8" name="Text 5"/>
          <p:cNvSpPr/>
          <p:nvPr/>
        </p:nvSpPr>
        <p:spPr>
          <a:xfrm>
            <a:off x="758309" y="4084796"/>
            <a:ext cx="4244816" cy="1516261"/>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Ensures that all fields contain atomic values, meaning no multi-valued attributes (e.g., a "sensor_list" array) are stored in a single column. This prevents complex data structures within cells.</a:t>
            </a:r>
            <a:endParaRPr lang="en-US" sz="1450" dirty="0"/>
          </a:p>
        </p:txBody>
      </p:sp>
      <p:sp>
        <p:nvSpPr>
          <p:cNvPr id="9" name="Text 6"/>
          <p:cNvSpPr/>
          <p:nvPr/>
        </p:nvSpPr>
        <p:spPr>
          <a:xfrm>
            <a:off x="5192673" y="3219569"/>
            <a:ext cx="189548" cy="236934"/>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Barlow Light" pitchFamily="34" charset="0"/>
                <a:ea typeface="Barlow Light" pitchFamily="34" charset="-122"/>
                <a:cs typeface="Barlow Light" pitchFamily="34" charset="-120"/>
              </a:rPr>
              <a:t>02</a:t>
            </a:r>
            <a:endParaRPr lang="en-US" sz="1450" dirty="0"/>
          </a:p>
        </p:txBody>
      </p:sp>
      <p:pic>
        <p:nvPicPr>
          <p:cNvPr id="10" name="Image 1" descr="preencoded.png"/>
          <p:cNvPicPr>
            <a:picLocks noChangeAspect="1"/>
          </p:cNvPicPr>
          <p:nvPr/>
        </p:nvPicPr>
        <p:blipFill>
          <a:blip r:embed="rId3"/>
          <a:stretch>
            <a:fillRect/>
          </a:stretch>
        </p:blipFill>
        <p:spPr>
          <a:xfrm>
            <a:off x="5192673" y="3518892"/>
            <a:ext cx="4244935" cy="22860"/>
          </a:xfrm>
          <a:prstGeom prst="rect">
            <a:avLst/>
          </a:prstGeom>
        </p:spPr>
      </p:pic>
      <p:sp>
        <p:nvSpPr>
          <p:cNvPr id="11" name="Text 7"/>
          <p:cNvSpPr/>
          <p:nvPr/>
        </p:nvSpPr>
        <p:spPr>
          <a:xfrm>
            <a:off x="5192673" y="3659386"/>
            <a:ext cx="2967157"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Second Normal Form (2NF)</a:t>
            </a:r>
            <a:endParaRPr lang="en-US" sz="1950" dirty="0"/>
          </a:p>
        </p:txBody>
      </p:sp>
      <p:sp>
        <p:nvSpPr>
          <p:cNvPr id="12" name="Text 8"/>
          <p:cNvSpPr/>
          <p:nvPr/>
        </p:nvSpPr>
        <p:spPr>
          <a:xfrm>
            <a:off x="5192673" y="4084796"/>
            <a:ext cx="4244935" cy="1819513"/>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Removes partial dependencies by ensuring all non-key attributes are fully dependent on the primary key. For example, AI architecture metadata is moved to its own dedicated table to avoid repetition across every test log entry.</a:t>
            </a:r>
            <a:endParaRPr lang="en-US" sz="1450" dirty="0"/>
          </a:p>
        </p:txBody>
      </p:sp>
      <p:sp>
        <p:nvSpPr>
          <p:cNvPr id="13" name="Text 9"/>
          <p:cNvSpPr/>
          <p:nvPr/>
        </p:nvSpPr>
        <p:spPr>
          <a:xfrm>
            <a:off x="9627156" y="3219569"/>
            <a:ext cx="189548" cy="236934"/>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Barlow Light" pitchFamily="34" charset="0"/>
                <a:ea typeface="Barlow Light" pitchFamily="34" charset="-122"/>
                <a:cs typeface="Barlow Light" pitchFamily="34" charset="-120"/>
              </a:rPr>
              <a:t>03</a:t>
            </a:r>
            <a:endParaRPr lang="en-US" sz="1450" dirty="0"/>
          </a:p>
        </p:txBody>
      </p:sp>
      <p:pic>
        <p:nvPicPr>
          <p:cNvPr id="14" name="Image 2" descr="preencoded.png"/>
          <p:cNvPicPr>
            <a:picLocks noChangeAspect="1"/>
          </p:cNvPicPr>
          <p:nvPr/>
        </p:nvPicPr>
        <p:blipFill>
          <a:blip r:embed="rId3"/>
          <a:stretch>
            <a:fillRect/>
          </a:stretch>
        </p:blipFill>
        <p:spPr>
          <a:xfrm>
            <a:off x="9627156" y="3518892"/>
            <a:ext cx="4244816" cy="22860"/>
          </a:xfrm>
          <a:prstGeom prst="rect">
            <a:avLst/>
          </a:prstGeom>
        </p:spPr>
      </p:pic>
      <p:sp>
        <p:nvSpPr>
          <p:cNvPr id="15" name="Text 10"/>
          <p:cNvSpPr/>
          <p:nvPr/>
        </p:nvSpPr>
        <p:spPr>
          <a:xfrm>
            <a:off x="9627156" y="3659386"/>
            <a:ext cx="2708910"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Third Normal Form (3NF)</a:t>
            </a:r>
            <a:endParaRPr lang="en-US" sz="1950" dirty="0"/>
          </a:p>
        </p:txBody>
      </p:sp>
      <p:sp>
        <p:nvSpPr>
          <p:cNvPr id="16" name="Text 11"/>
          <p:cNvSpPr/>
          <p:nvPr/>
        </p:nvSpPr>
        <p:spPr>
          <a:xfrm>
            <a:off x="9627156" y="4084796"/>
            <a:ext cx="4244816" cy="2122765"/>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Eliminates transitive dependencies, ensuring that non-key attributes are directly dependent on the primary key, not on other non-key attributes. Scenario metadata (weather, light level) is stored independently of specific test run details, promoting data independence and reducing redundancy.</a:t>
            </a:r>
            <a:endParaRPr lang="en-US" sz="1450" dirty="0"/>
          </a:p>
        </p:txBody>
      </p:sp>
      <p:pic>
        <p:nvPicPr>
          <p:cNvPr id="19" name="Picture 18">
            <a:extLst>
              <a:ext uri="{FF2B5EF4-FFF2-40B4-BE49-F238E27FC236}">
                <a16:creationId xmlns:a16="http://schemas.microsoft.com/office/drawing/2014/main" id="{D6C7191C-0D5C-1530-CFAE-8093641EF27D}"/>
              </a:ext>
            </a:extLst>
          </p:cNvPr>
          <p:cNvPicPr>
            <a:picLocks noChangeAspect="1"/>
          </p:cNvPicPr>
          <p:nvPr/>
        </p:nvPicPr>
        <p:blipFill>
          <a:blip r:embed="rId4"/>
          <a:stretch>
            <a:fillRect/>
          </a:stretch>
        </p:blipFill>
        <p:spPr>
          <a:xfrm>
            <a:off x="10741807" y="6750605"/>
            <a:ext cx="3888594" cy="14789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58309" y="1314093"/>
            <a:ext cx="2681645"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1370886"/>
            <a:ext cx="2454235"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IMPLEMENTATION &amp; ANALYTICS</a:t>
            </a:r>
            <a:endParaRPr lang="en-US" sz="1150" dirty="0"/>
          </a:p>
        </p:txBody>
      </p:sp>
      <p:sp>
        <p:nvSpPr>
          <p:cNvPr id="4" name="Text 2"/>
          <p:cNvSpPr/>
          <p:nvPr/>
        </p:nvSpPr>
        <p:spPr>
          <a:xfrm>
            <a:off x="758309" y="1746052"/>
            <a:ext cx="13113782" cy="1247061"/>
          </a:xfrm>
          <a:prstGeom prst="rect">
            <a:avLst/>
          </a:prstGeom>
          <a:noFill/>
          <a:ln/>
        </p:spPr>
        <p:txBody>
          <a:bodyPr wrap="squar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Bringing DriveLearn to Life with DDL, DML, and SQL Analytics</a:t>
            </a:r>
            <a:endParaRPr lang="en-US" sz="3900" dirty="0"/>
          </a:p>
        </p:txBody>
      </p:sp>
      <p:sp>
        <p:nvSpPr>
          <p:cNvPr id="5" name="Text 3"/>
          <p:cNvSpPr/>
          <p:nvPr/>
        </p:nvSpPr>
        <p:spPr>
          <a:xfrm>
            <a:off x="758309" y="3466981"/>
            <a:ext cx="3075265"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Barlow Bold" pitchFamily="34" charset="0"/>
                <a:ea typeface="Barlow Bold" pitchFamily="34" charset="-122"/>
                <a:cs typeface="Barlow Bold" pitchFamily="34" charset="-120"/>
              </a:rPr>
              <a:t>Implementation Details</a:t>
            </a:r>
            <a:endParaRPr lang="en-US" sz="2350" dirty="0"/>
          </a:p>
        </p:txBody>
      </p:sp>
      <p:sp>
        <p:nvSpPr>
          <p:cNvPr id="6" name="Text 4"/>
          <p:cNvSpPr/>
          <p:nvPr/>
        </p:nvSpPr>
        <p:spPr>
          <a:xfrm>
            <a:off x="758309" y="4030623"/>
            <a:ext cx="6325672" cy="2729943"/>
          </a:xfrm>
          <a:prstGeom prst="rect">
            <a:avLst/>
          </a:prstGeom>
          <a:noFill/>
          <a:ln/>
        </p:spPr>
        <p:txBody>
          <a:bodyPr wrap="square" lIns="0" tIns="0" rIns="0" bIns="0" rtlCol="0" anchor="t"/>
          <a:lstStyle/>
          <a:p>
            <a:pPr marL="342900" indent="-342900" algn="l">
              <a:lnSpc>
                <a:spcPts val="2350"/>
              </a:lnSpc>
              <a:buSzPct val="100000"/>
              <a:buChar char="•"/>
            </a:pPr>
            <a:r>
              <a:rPr lang="en-US" sz="1450" b="1" dirty="0">
                <a:solidFill>
                  <a:srgbClr val="384653"/>
                </a:solidFill>
                <a:latin typeface="Montserrat" pitchFamily="34" charset="0"/>
                <a:ea typeface="Montserrat" pitchFamily="34" charset="-122"/>
                <a:cs typeface="Montserrat" pitchFamily="34" charset="-120"/>
              </a:rPr>
              <a:t>DDL (Data Definition Language):</a:t>
            </a:r>
            <a:r>
              <a:rPr lang="en-US" sz="1450" dirty="0">
                <a:solidFill>
                  <a:srgbClr val="384653"/>
                </a:solidFill>
                <a:latin typeface="Montserrat" pitchFamily="34" charset="0"/>
                <a:ea typeface="Montserrat" pitchFamily="34" charset="-122"/>
                <a:cs typeface="Montserrat" pitchFamily="34" charset="-120"/>
              </a:rPr>
              <a:t> We utilize </a:t>
            </a:r>
            <a:r>
              <a:rPr lang="en-US" sz="1450" dirty="0">
                <a:solidFill>
                  <a:srgbClr val="384653"/>
                </a:solidFill>
                <a:highlight>
                  <a:srgbClr val="F2F2F2"/>
                </a:highlight>
                <a:latin typeface="Consolas" pitchFamily="34" charset="0"/>
                <a:ea typeface="Consolas" pitchFamily="34" charset="-122"/>
                <a:cs typeface="Consolas" pitchFamily="34" charset="-120"/>
              </a:rPr>
              <a:t>CREATE TABLE</a:t>
            </a:r>
            <a:r>
              <a:rPr lang="en-US" sz="1450" dirty="0">
                <a:solidFill>
                  <a:srgbClr val="384653"/>
                </a:solidFill>
                <a:latin typeface="Montserrat" pitchFamily="34" charset="0"/>
                <a:ea typeface="Montserrat" pitchFamily="34" charset="-122"/>
                <a:cs typeface="Montserrat" pitchFamily="34" charset="-120"/>
              </a:rPr>
              <a:t> statements with explicit </a:t>
            </a:r>
            <a:r>
              <a:rPr lang="en-US" sz="1450" dirty="0">
                <a:solidFill>
                  <a:srgbClr val="384653"/>
                </a:solidFill>
                <a:highlight>
                  <a:srgbClr val="F2F2F2"/>
                </a:highlight>
                <a:latin typeface="Consolas" pitchFamily="34" charset="0"/>
                <a:ea typeface="Consolas" pitchFamily="34" charset="-122"/>
                <a:cs typeface="Consolas" pitchFamily="34" charset="-120"/>
              </a:rPr>
              <a:t>FOREIGN KEY</a:t>
            </a:r>
            <a:r>
              <a:rPr lang="en-US" sz="1450" dirty="0">
                <a:solidFill>
                  <a:srgbClr val="384653"/>
                </a:solidFill>
                <a:latin typeface="Montserrat" pitchFamily="34" charset="0"/>
                <a:ea typeface="Montserrat" pitchFamily="34" charset="-122"/>
                <a:cs typeface="Montserrat" pitchFamily="34" charset="-120"/>
              </a:rPr>
              <a:t> constraints. This ensures referential integrity, preventing orphaned records (e.g., no detection can exist without a valid associated test run).</a:t>
            </a:r>
            <a:endParaRPr lang="en-US" sz="1450" dirty="0"/>
          </a:p>
          <a:p>
            <a:pPr marL="342900" indent="-342900" algn="l">
              <a:lnSpc>
                <a:spcPts val="2350"/>
              </a:lnSpc>
              <a:buSzPct val="100000"/>
              <a:buChar char="•"/>
            </a:pPr>
            <a:r>
              <a:rPr lang="en-US" sz="1450" b="1" dirty="0">
                <a:solidFill>
                  <a:srgbClr val="384653"/>
                </a:solidFill>
                <a:latin typeface="Montserrat" pitchFamily="34" charset="0"/>
                <a:ea typeface="Montserrat" pitchFamily="34" charset="-122"/>
                <a:cs typeface="Montserrat" pitchFamily="34" charset="-120"/>
              </a:rPr>
              <a:t>DML (Data Manipulation Language):</a:t>
            </a:r>
            <a:r>
              <a:rPr lang="en-US" sz="1450" dirty="0">
                <a:solidFill>
                  <a:srgbClr val="384653"/>
                </a:solidFill>
                <a:latin typeface="Montserrat" pitchFamily="34" charset="0"/>
                <a:ea typeface="Montserrat" pitchFamily="34" charset="-122"/>
                <a:cs typeface="Montserrat" pitchFamily="34" charset="-120"/>
              </a:rPr>
              <a:t> </a:t>
            </a:r>
            <a:r>
              <a:rPr lang="en-US" sz="1450" dirty="0">
                <a:solidFill>
                  <a:srgbClr val="384653"/>
                </a:solidFill>
                <a:highlight>
                  <a:srgbClr val="F2F2F2"/>
                </a:highlight>
                <a:latin typeface="Consolas" pitchFamily="34" charset="0"/>
                <a:ea typeface="Consolas" pitchFamily="34" charset="-122"/>
                <a:cs typeface="Consolas" pitchFamily="34" charset="-120"/>
              </a:rPr>
              <a:t>INSERT INTO</a:t>
            </a:r>
            <a:r>
              <a:rPr lang="en-US" sz="1450" dirty="0">
                <a:solidFill>
                  <a:srgbClr val="384653"/>
                </a:solidFill>
                <a:latin typeface="Montserrat" pitchFamily="34" charset="0"/>
                <a:ea typeface="Montserrat" pitchFamily="34" charset="-122"/>
                <a:cs typeface="Montserrat" pitchFamily="34" charset="-120"/>
              </a:rPr>
              <a:t> commands are used to systematically populate the DriveLearn database. This includes importing diverse environmental conditions, AI model versions, and real-world test data to build a comprehensive benchmarking library.</a:t>
            </a:r>
            <a:endParaRPr lang="en-US" sz="1450" dirty="0"/>
          </a:p>
        </p:txBody>
      </p:sp>
      <p:sp>
        <p:nvSpPr>
          <p:cNvPr id="7" name="Shape 5"/>
          <p:cNvSpPr/>
          <p:nvPr/>
        </p:nvSpPr>
        <p:spPr>
          <a:xfrm>
            <a:off x="7417594" y="3277433"/>
            <a:ext cx="6598563" cy="3637955"/>
          </a:xfrm>
          <a:prstGeom prst="roundRect">
            <a:avLst>
              <a:gd name="adj" fmla="val 12507"/>
            </a:avLst>
          </a:prstGeom>
          <a:solidFill>
            <a:srgbClr val="E5F6FF"/>
          </a:solidFill>
          <a:ln/>
        </p:spPr>
        <p:txBody>
          <a:bodyPr/>
          <a:lstStyle/>
          <a:p>
            <a:endParaRPr lang="en-US"/>
          </a:p>
        </p:txBody>
      </p:sp>
      <p:sp>
        <p:nvSpPr>
          <p:cNvPr id="8" name="Text 6"/>
          <p:cNvSpPr/>
          <p:nvPr/>
        </p:nvSpPr>
        <p:spPr>
          <a:xfrm>
            <a:off x="7607141" y="3466981"/>
            <a:ext cx="3226951"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Barlow Bold" pitchFamily="34" charset="0"/>
                <a:ea typeface="Barlow Bold" pitchFamily="34" charset="-122"/>
                <a:cs typeface="Barlow Bold" pitchFamily="34" charset="-120"/>
              </a:rPr>
              <a:t>SQL Analytics &amp; Insights</a:t>
            </a:r>
            <a:endParaRPr lang="en-US" sz="2350" dirty="0"/>
          </a:p>
        </p:txBody>
      </p:sp>
      <p:sp>
        <p:nvSpPr>
          <p:cNvPr id="9" name="Text 7"/>
          <p:cNvSpPr/>
          <p:nvPr/>
        </p:nvSpPr>
        <p:spPr>
          <a:xfrm>
            <a:off x="7607141" y="4030623"/>
            <a:ext cx="6219468"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The true "Power of DBMS" lies in its ability to extract actionable insights. For instance, we can query: </a:t>
            </a:r>
            <a:r>
              <a:rPr lang="en-US" sz="1450" i="1" dirty="0">
                <a:solidFill>
                  <a:srgbClr val="384653"/>
                </a:solidFill>
                <a:latin typeface="Montserrat" pitchFamily="34" charset="0"/>
                <a:ea typeface="Montserrat" pitchFamily="34" charset="-122"/>
                <a:cs typeface="Montserrat" pitchFamily="34" charset="-120"/>
              </a:rPr>
              <a:t>"What is the average AI confidence for Model v3.5 during Rainy Night scenarios?"</a:t>
            </a:r>
            <a:endParaRPr lang="en-US" sz="1450" dirty="0"/>
          </a:p>
        </p:txBody>
      </p:sp>
      <p:sp>
        <p:nvSpPr>
          <p:cNvPr id="10" name="Text 8"/>
          <p:cNvSpPr/>
          <p:nvPr/>
        </p:nvSpPr>
        <p:spPr>
          <a:xfrm>
            <a:off x="7607141" y="5110996"/>
            <a:ext cx="6219468" cy="1213009"/>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This capability is invaluable for identifying specific </a:t>
            </a:r>
            <a:r>
              <a:rPr lang="en-US" sz="1450" b="1" dirty="0">
                <a:solidFill>
                  <a:srgbClr val="384653"/>
                </a:solidFill>
                <a:latin typeface="Montserrat" pitchFamily="34" charset="0"/>
                <a:ea typeface="Montserrat" pitchFamily="34" charset="-122"/>
                <a:cs typeface="Montserrat" pitchFamily="34" charset="-120"/>
              </a:rPr>
              <a:t>"Training Gaps"</a:t>
            </a:r>
            <a:r>
              <a:rPr lang="en-US" sz="1450" dirty="0">
                <a:solidFill>
                  <a:srgbClr val="384653"/>
                </a:solidFill>
                <a:latin typeface="Montserrat" pitchFamily="34" charset="0"/>
                <a:ea typeface="Montserrat" pitchFamily="34" charset="-122"/>
                <a:cs typeface="Montserrat" pitchFamily="34" charset="-120"/>
              </a:rPr>
              <a:t> in AI models, allowing engineers to focus development efforts precisely where they are most needed, significantly accelerating the path to safer autonomous driving.</a:t>
            </a:r>
            <a:endParaRPr lang="en-US" sz="1450" dirty="0"/>
          </a:p>
        </p:txBody>
      </p:sp>
      <p:pic>
        <p:nvPicPr>
          <p:cNvPr id="13" name="Picture 12">
            <a:extLst>
              <a:ext uri="{FF2B5EF4-FFF2-40B4-BE49-F238E27FC236}">
                <a16:creationId xmlns:a16="http://schemas.microsoft.com/office/drawing/2014/main" id="{D3F8E46C-A6C6-3F55-3CC1-A49AB7BC470A}"/>
              </a:ext>
            </a:extLst>
          </p:cNvPr>
          <p:cNvPicPr>
            <a:picLocks noChangeAspect="1"/>
          </p:cNvPicPr>
          <p:nvPr/>
        </p:nvPicPr>
        <p:blipFill>
          <a:blip r:embed="rId3"/>
          <a:stretch>
            <a:fillRect/>
          </a:stretch>
        </p:blipFill>
        <p:spPr>
          <a:xfrm>
            <a:off x="12324265" y="7402960"/>
            <a:ext cx="2173412" cy="826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04F9DD-FEEC-6A45-2A89-0B2E917CB419}"/>
              </a:ext>
            </a:extLst>
          </p:cNvPr>
          <p:cNvPicPr>
            <a:picLocks noChangeAspect="1"/>
          </p:cNvPicPr>
          <p:nvPr/>
        </p:nvPicPr>
        <p:blipFill>
          <a:blip r:embed="rId2"/>
          <a:stretch>
            <a:fillRect/>
          </a:stretch>
        </p:blipFill>
        <p:spPr>
          <a:xfrm>
            <a:off x="3892972" y="0"/>
            <a:ext cx="10633753" cy="8229600"/>
          </a:xfrm>
          <a:prstGeom prst="rect">
            <a:avLst/>
          </a:prstGeom>
        </p:spPr>
      </p:pic>
      <p:sp>
        <p:nvSpPr>
          <p:cNvPr id="4" name="TextBox 3">
            <a:extLst>
              <a:ext uri="{FF2B5EF4-FFF2-40B4-BE49-F238E27FC236}">
                <a16:creationId xmlns:a16="http://schemas.microsoft.com/office/drawing/2014/main" id="{4BEEF8D3-FC17-03B4-E3FB-6CB235E5E853}"/>
              </a:ext>
            </a:extLst>
          </p:cNvPr>
          <p:cNvSpPr txBox="1"/>
          <p:nvPr/>
        </p:nvSpPr>
        <p:spPr>
          <a:xfrm>
            <a:off x="103674" y="492368"/>
            <a:ext cx="3471863" cy="707886"/>
          </a:xfrm>
          <a:prstGeom prst="rect">
            <a:avLst/>
          </a:prstGeom>
          <a:noFill/>
        </p:spPr>
        <p:txBody>
          <a:bodyPr wrap="square" rtlCol="0">
            <a:spAutoFit/>
          </a:bodyPr>
          <a:lstStyle/>
          <a:p>
            <a:pPr algn="l"/>
            <a:r>
              <a:rPr lang="en-IN" sz="4000" b="1" u="sng" dirty="0"/>
              <a:t>ER DIAGRAM</a:t>
            </a:r>
            <a:endParaRPr lang="en-US" sz="4000" b="1" u="sng" dirty="0"/>
          </a:p>
        </p:txBody>
      </p:sp>
    </p:spTree>
    <p:extLst>
      <p:ext uri="{BB962C8B-B14F-4D97-AF65-F5344CB8AC3E}">
        <p14:creationId xmlns:p14="http://schemas.microsoft.com/office/powerpoint/2010/main" val="3218265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11</Slides>
  <Notes>10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Shreekar Kanumuri</cp:lastModifiedBy>
  <cp:revision>3</cp:revision>
  <dcterms:created xsi:type="dcterms:W3CDTF">2026-02-11T05:06:55Z</dcterms:created>
  <dcterms:modified xsi:type="dcterms:W3CDTF">2026-02-11T05:38:59Z</dcterms:modified>
</cp:coreProperties>
</file>